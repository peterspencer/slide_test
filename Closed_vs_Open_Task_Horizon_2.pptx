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6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1999999999999995E-2"/>
          <c:y val="0.03"/>
          <c:w val="0.91500000000000004"/>
          <c:h val="0.85499999999999998"/>
        </c:manualLayout>
      </c:layout>
      <c:areaChart>
        <c:grouping val="standard"/>
        <c:varyColors val="0"/>
        <c:ser>
          <c:idx val="1"/>
          <c:order val="0"/>
          <c:tx>
            <c:strRef>
              <c:f>Sheet1!$D$1</c:f>
              <c:strCache>
                <c:ptCount val="1"/>
                <c:pt idx="0">
                  <c:v>Frontier ARR (axis scale)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Sheet1!$A$2:$A$20</c:f>
              <c:strCache>
                <c:ptCount val="19"/>
                <c:pt idx="0">
                  <c:v>Jan'25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  <c:pt idx="6">
                  <c:v>Jul'25</c:v>
                </c:pt>
                <c:pt idx="7">
                  <c:v>Aug'25</c:v>
                </c:pt>
                <c:pt idx="8">
                  <c:v>Sep'25</c:v>
                </c:pt>
                <c:pt idx="9">
                  <c:v>Oct'25</c:v>
                </c:pt>
                <c:pt idx="10">
                  <c:v>Nov'25</c:v>
                </c:pt>
                <c:pt idx="11">
                  <c:v>Dec'25</c:v>
                </c:pt>
                <c:pt idx="12">
                  <c:v>Jan'26</c:v>
                </c:pt>
                <c:pt idx="13">
                  <c:v>Feb'26</c:v>
                </c:pt>
                <c:pt idx="14">
                  <c:v>Mar'26</c:v>
                </c:pt>
                <c:pt idx="15">
                  <c:v>Apr'26</c:v>
                </c:pt>
                <c:pt idx="16">
                  <c:v>May'26</c:v>
                </c:pt>
                <c:pt idx="17">
                  <c:v>Jun'26</c:v>
                </c:pt>
                <c:pt idx="18">
                  <c:v>Jul'26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7.06</c:v>
                </c:pt>
                <c:pt idx="1">
                  <c:v>8.1199999999999992</c:v>
                </c:pt>
                <c:pt idx="2">
                  <c:v>9.41</c:v>
                </c:pt>
                <c:pt idx="3">
                  <c:v>10.6</c:v>
                </c:pt>
                <c:pt idx="4">
                  <c:v>12</c:v>
                </c:pt>
                <c:pt idx="5">
                  <c:v>13.6</c:v>
                </c:pt>
                <c:pt idx="6">
                  <c:v>16</c:v>
                </c:pt>
                <c:pt idx="7">
                  <c:v>18.5</c:v>
                </c:pt>
                <c:pt idx="8">
                  <c:v>21</c:v>
                </c:pt>
                <c:pt idx="9">
                  <c:v>24</c:v>
                </c:pt>
                <c:pt idx="10">
                  <c:v>27</c:v>
                </c:pt>
                <c:pt idx="11">
                  <c:v>30.4</c:v>
                </c:pt>
                <c:pt idx="12">
                  <c:v>34.200000000000003</c:v>
                </c:pt>
                <c:pt idx="13">
                  <c:v>39</c:v>
                </c:pt>
                <c:pt idx="14">
                  <c:v>45</c:v>
                </c:pt>
                <c:pt idx="15">
                  <c:v>56</c:v>
                </c:pt>
                <c:pt idx="16">
                  <c:v>80</c:v>
                </c:pt>
                <c:pt idx="17">
                  <c:v>92.8</c:v>
                </c:pt>
                <c:pt idx="18">
                  <c:v>106.3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52-3A47-B668-FF4438F82C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lineChart>
        <c:grouping val="standard"/>
        <c:varyColors val="0"/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A9A9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Bahnschrift Ligh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&quot;$&quot;0&quot;B&quot;" sourceLinked="0"/>
        <c:majorTickMark val="out"/>
        <c:minorTickMark val="none"/>
        <c:tickLblPos val="nextTo"/>
        <c:spPr>
          <a:ln w="12700" cap="flat">
            <a:solidFill>
              <a:srgbClr val="9A9A9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Bahnschrift Light"/>
              </a:defRPr>
            </a:pPr>
            <a:endParaRPr lang="en-US"/>
          </a:p>
        </c:txPr>
        <c:crossAx val="2094734554"/>
        <c:crosses val="autoZero"/>
        <c:crossBetween val="midCat"/>
        <c:majorUnit val="3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1999999999999995E-2"/>
          <c:y val="0.03"/>
          <c:w val="0.91500000000000004"/>
          <c:h val="0.85499999999999998"/>
        </c:manualLayout>
      </c:layout>
      <c:areaChart>
        <c:grouping val="standard"/>
        <c:varyColors val="0"/>
        <c:ser>
          <c:idx val="1"/>
          <c:order val="0"/>
          <c:tx>
            <c:strRef>
              <c:f>Sheet1!$D$1</c:f>
              <c:strCache>
                <c:ptCount val="1"/>
                <c:pt idx="0">
                  <c:v>Frontier ARR</c:v>
                </c:pt>
              </c:strCache>
            </c:strRef>
          </c:tx>
          <c:spPr>
            <a:solidFill>
              <a:srgbClr val="D2D2D2"/>
            </a:solidFill>
            <a:effectLst/>
          </c:spPr>
          <c:cat>
            <c:strRef>
              <c:f>Sheet1!$A$2:$A$20</c:f>
              <c:strCache>
                <c:ptCount val="19"/>
                <c:pt idx="0">
                  <c:v>Jan'25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  <c:pt idx="6">
                  <c:v>Jul'25</c:v>
                </c:pt>
                <c:pt idx="7">
                  <c:v>Aug'25</c:v>
                </c:pt>
                <c:pt idx="8">
                  <c:v>Sep'25</c:v>
                </c:pt>
                <c:pt idx="9">
                  <c:v>Oct'25</c:v>
                </c:pt>
                <c:pt idx="10">
                  <c:v>Nov'25</c:v>
                </c:pt>
                <c:pt idx="11">
                  <c:v>Dec'25</c:v>
                </c:pt>
                <c:pt idx="12">
                  <c:v>Jan'26</c:v>
                </c:pt>
                <c:pt idx="13">
                  <c:v>Feb'26</c:v>
                </c:pt>
                <c:pt idx="14">
                  <c:v>Mar'26</c:v>
                </c:pt>
                <c:pt idx="15">
                  <c:v>Apr'26</c:v>
                </c:pt>
                <c:pt idx="16">
                  <c:v>May'26</c:v>
                </c:pt>
                <c:pt idx="17">
                  <c:v>Jun'26</c:v>
                </c:pt>
                <c:pt idx="18">
                  <c:v>Jul'26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7.06</c:v>
                </c:pt>
                <c:pt idx="1">
                  <c:v>8.1199999999999992</c:v>
                </c:pt>
                <c:pt idx="2">
                  <c:v>9.41</c:v>
                </c:pt>
                <c:pt idx="3">
                  <c:v>10.6</c:v>
                </c:pt>
                <c:pt idx="4">
                  <c:v>12</c:v>
                </c:pt>
                <c:pt idx="5">
                  <c:v>13.6</c:v>
                </c:pt>
                <c:pt idx="6">
                  <c:v>16</c:v>
                </c:pt>
                <c:pt idx="7">
                  <c:v>18.5</c:v>
                </c:pt>
                <c:pt idx="8">
                  <c:v>21</c:v>
                </c:pt>
                <c:pt idx="9">
                  <c:v>24</c:v>
                </c:pt>
                <c:pt idx="10">
                  <c:v>27</c:v>
                </c:pt>
                <c:pt idx="11">
                  <c:v>30.4</c:v>
                </c:pt>
                <c:pt idx="12">
                  <c:v>34.200000000000003</c:v>
                </c:pt>
                <c:pt idx="13">
                  <c:v>39</c:v>
                </c:pt>
                <c:pt idx="14">
                  <c:v>45</c:v>
                </c:pt>
                <c:pt idx="15">
                  <c:v>56</c:v>
                </c:pt>
                <c:pt idx="16">
                  <c:v>80</c:v>
                </c:pt>
                <c:pt idx="17">
                  <c:v>92.8</c:v>
                </c:pt>
                <c:pt idx="18">
                  <c:v>106.3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52-3A47-B668-FF4438F82C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lineChart>
        <c:grouping val="standard"/>
        <c:varyColors val="0"/>
        <c:ser>
          <c:idx val="2"/>
          <c:order val="1"/>
          <c:tx>
            <c:strRef>
              <c:f>Sheet1!$E$1</c:f>
              <c:strCache>
                <c:ptCount val="1"/>
                <c:pt idx="0">
                  <c:v>Frontier releases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FFFFF"/>
              </a:solidFill>
              <a:ln w="2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dLbls>
            <c:numFmt formatCode="&quot;$&quot;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Bahnschrif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Sheet1!$A$2:$A$20</c:f>
              <c:strCache>
                <c:ptCount val="19"/>
                <c:pt idx="0">
                  <c:v>Jan'25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  <c:pt idx="6">
                  <c:v>Jul'25</c:v>
                </c:pt>
                <c:pt idx="7">
                  <c:v>Aug'25</c:v>
                </c:pt>
                <c:pt idx="8">
                  <c:v>Sep'25</c:v>
                </c:pt>
                <c:pt idx="9">
                  <c:v>Oct'25</c:v>
                </c:pt>
                <c:pt idx="10">
                  <c:v>Nov'25</c:v>
                </c:pt>
                <c:pt idx="11">
                  <c:v>Dec'25</c:v>
                </c:pt>
                <c:pt idx="12">
                  <c:v>Jan'26</c:v>
                </c:pt>
                <c:pt idx="13">
                  <c:v>Feb'26</c:v>
                </c:pt>
                <c:pt idx="14">
                  <c:v>Mar'26</c:v>
                </c:pt>
                <c:pt idx="15">
                  <c:v>Apr'26</c:v>
                </c:pt>
                <c:pt idx="16">
                  <c:v>May'26</c:v>
                </c:pt>
                <c:pt idx="17">
                  <c:v>Jun'26</c:v>
                </c:pt>
                <c:pt idx="18">
                  <c:v>Jul'26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7.06</c:v>
                </c:pt>
                <c:pt idx="4">
                  <c:v>12</c:v>
                </c:pt>
                <c:pt idx="7">
                  <c:v>18.5</c:v>
                </c:pt>
                <c:pt idx="10">
                  <c:v>27</c:v>
                </c:pt>
                <c:pt idx="14">
                  <c:v>45</c:v>
                </c:pt>
                <c:pt idx="17">
                  <c:v>92.8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552-3A47-B668-FF4438F82C7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  <c:max val="120"/>
          <c:min val="0"/>
        </c:scaling>
        <c:delete val="1"/>
        <c:axPos val="l"/>
        <c:numFmt formatCode="&quot;$&quot;0&quot;B&quot;" sourceLinked="0"/>
        <c:majorTickMark val="out"/>
        <c:minorTickMark val="none"/>
        <c:tickLblPos val="nextTo"/>
        <c:crossAx val="2094734554"/>
        <c:crosses val="autoZero"/>
        <c:crossBetween val="midCat"/>
        <c:majorUnit val="3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1999999999999995E-2"/>
          <c:y val="0.03"/>
          <c:w val="0.91500000000000004"/>
          <c:h val="0.85499999999999998"/>
        </c:manualLayout>
      </c:layout>
      <c:areaChart>
        <c:grouping val="stacked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Open-source ARR</c:v>
                </c:pt>
              </c:strCache>
            </c:strRef>
          </c:tx>
          <c:spPr>
            <a:solidFill>
              <a:srgbClr val="8E2119"/>
            </a:solidFill>
            <a:ln>
              <a:noFill/>
            </a:ln>
          </c:spPr>
          <c:cat>
            <c:strRef>
              <c:f>Sheet1!$A$2:$A$20</c:f>
              <c:strCache>
                <c:ptCount val="19"/>
                <c:pt idx="0">
                  <c:v>Jan'25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  <c:pt idx="6">
                  <c:v>Jul'25</c:v>
                </c:pt>
                <c:pt idx="7">
                  <c:v>Aug'25</c:v>
                </c:pt>
                <c:pt idx="8">
                  <c:v>Sep'25</c:v>
                </c:pt>
                <c:pt idx="9">
                  <c:v>Oct'25</c:v>
                </c:pt>
                <c:pt idx="10">
                  <c:v>Nov'25</c:v>
                </c:pt>
                <c:pt idx="11">
                  <c:v>Dec'25</c:v>
                </c:pt>
                <c:pt idx="12">
                  <c:v>Jan'26</c:v>
                </c:pt>
                <c:pt idx="13">
                  <c:v>Feb'26</c:v>
                </c:pt>
                <c:pt idx="14">
                  <c:v>Mar'26</c:v>
                </c:pt>
                <c:pt idx="15">
                  <c:v>Apr'26</c:v>
                </c:pt>
                <c:pt idx="16">
                  <c:v>May'26</c:v>
                </c:pt>
                <c:pt idx="17">
                  <c:v>Jun'26</c:v>
                </c:pt>
                <c:pt idx="18">
                  <c:v>Jul'26</c:v>
                </c:pt>
              </c:strCache>
            </c:str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0.12</c:v>
                </c:pt>
                <c:pt idx="1">
                  <c:v>0.14000000000000001</c:v>
                </c:pt>
                <c:pt idx="2">
                  <c:v>0.17</c:v>
                </c:pt>
                <c:pt idx="3">
                  <c:v>0.2</c:v>
                </c:pt>
                <c:pt idx="4">
                  <c:v>0.24</c:v>
                </c:pt>
                <c:pt idx="5">
                  <c:v>0.28000000000000003</c:v>
                </c:pt>
                <c:pt idx="6">
                  <c:v>0.33</c:v>
                </c:pt>
                <c:pt idx="7">
                  <c:v>0.4</c:v>
                </c:pt>
                <c:pt idx="8">
                  <c:v>0.47</c:v>
                </c:pt>
                <c:pt idx="9">
                  <c:v>0.56000000000000005</c:v>
                </c:pt>
                <c:pt idx="10">
                  <c:v>0.66</c:v>
                </c:pt>
                <c:pt idx="11">
                  <c:v>0.79</c:v>
                </c:pt>
                <c:pt idx="12">
                  <c:v>0.93</c:v>
                </c:pt>
                <c:pt idx="13">
                  <c:v>1.1100000000000001</c:v>
                </c:pt>
                <c:pt idx="14">
                  <c:v>1.31</c:v>
                </c:pt>
                <c:pt idx="15">
                  <c:v>1.56</c:v>
                </c:pt>
                <c:pt idx="16">
                  <c:v>1.85</c:v>
                </c:pt>
                <c:pt idx="17">
                  <c:v>2.19</c:v>
                </c:pt>
                <c:pt idx="18">
                  <c:v>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52-3A47-B668-FF4438F82C79}"/>
            </c:ext>
          </c:extLst>
        </c:ser>
        <c:ser>
          <c:idx val="1"/>
          <c:order val="1"/>
          <c:tx>
            <c:strRef>
              <c:f>Sheet1!$G$1</c:f>
              <c:strCache>
                <c:ptCount val="1"/>
                <c:pt idx="0">
                  <c:v>Enterprise surplus (stacked to 25%)</c:v>
                </c:pt>
              </c:strCache>
            </c:strRef>
          </c:tx>
          <c:spPr>
            <a:pattFill prst="ltUpDiag">
              <a:fgClr>
                <a:srgbClr val="E8453C"/>
              </a:fgClr>
              <a:bgClr>
                <a:srgbClr val="D2D2D2"/>
              </a:bgClr>
            </a:pattFill>
            <a:ln w="12700">
              <a:solidFill>
                <a:srgbClr val="E8453C"/>
              </a:solidFill>
              <a:prstDash val="dash"/>
            </a:ln>
          </c:spPr>
          <c:cat>
            <c:strRef>
              <c:f>Sheet1!$A$2:$A$20</c:f>
              <c:strCache>
                <c:ptCount val="19"/>
                <c:pt idx="0">
                  <c:v>Jan'25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  <c:pt idx="6">
                  <c:v>Jul'25</c:v>
                </c:pt>
                <c:pt idx="7">
                  <c:v>Aug'25</c:v>
                </c:pt>
                <c:pt idx="8">
                  <c:v>Sep'25</c:v>
                </c:pt>
                <c:pt idx="9">
                  <c:v>Oct'25</c:v>
                </c:pt>
                <c:pt idx="10">
                  <c:v>Nov'25</c:v>
                </c:pt>
                <c:pt idx="11">
                  <c:v>Dec'25</c:v>
                </c:pt>
                <c:pt idx="12">
                  <c:v>Jan'26</c:v>
                </c:pt>
                <c:pt idx="13">
                  <c:v>Feb'26</c:v>
                </c:pt>
                <c:pt idx="14">
                  <c:v>Mar'26</c:v>
                </c:pt>
                <c:pt idx="15">
                  <c:v>Apr'26</c:v>
                </c:pt>
                <c:pt idx="16">
                  <c:v>May'26</c:v>
                </c:pt>
                <c:pt idx="17">
                  <c:v>Jun'26</c:v>
                </c:pt>
                <c:pt idx="18">
                  <c:v>Jul'26</c:v>
                </c:pt>
              </c:strCache>
            </c:strRef>
          </c:cat>
          <c:val>
            <c:numRef>
              <c:f>Sheet1!$G$2:$G$20</c:f>
              <c:numCache>
                <c:formatCode>General</c:formatCode>
                <c:ptCount val="19"/>
                <c:pt idx="0">
                  <c:v>1.65</c:v>
                </c:pt>
                <c:pt idx="1">
                  <c:v>1.89</c:v>
                </c:pt>
                <c:pt idx="2">
                  <c:v>2.1800000000000002</c:v>
                </c:pt>
                <c:pt idx="3">
                  <c:v>2.4500000000000002</c:v>
                </c:pt>
                <c:pt idx="4">
                  <c:v>2.76</c:v>
                </c:pt>
                <c:pt idx="5">
                  <c:v>3.12</c:v>
                </c:pt>
                <c:pt idx="6">
                  <c:v>3.67</c:v>
                </c:pt>
                <c:pt idx="7">
                  <c:v>4.22</c:v>
                </c:pt>
                <c:pt idx="8">
                  <c:v>4.78</c:v>
                </c:pt>
                <c:pt idx="9">
                  <c:v>5.44</c:v>
                </c:pt>
                <c:pt idx="10">
                  <c:v>6.09</c:v>
                </c:pt>
                <c:pt idx="11">
                  <c:v>6.81</c:v>
                </c:pt>
                <c:pt idx="12">
                  <c:v>7.62</c:v>
                </c:pt>
                <c:pt idx="13">
                  <c:v>8.64</c:v>
                </c:pt>
                <c:pt idx="14">
                  <c:v>9.94</c:v>
                </c:pt>
                <c:pt idx="15">
                  <c:v>12.44</c:v>
                </c:pt>
                <c:pt idx="16">
                  <c:v>18.149999999999999</c:v>
                </c:pt>
                <c:pt idx="17">
                  <c:v>21.01</c:v>
                </c:pt>
                <c:pt idx="18">
                  <c:v>23.97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52-3A47-B668-FF4438F82C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lineChart>
        <c:grouping val="stack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  <c:max val="120"/>
          <c:min val="0"/>
        </c:scaling>
        <c:delete val="1"/>
        <c:axPos val="l"/>
        <c:numFmt formatCode="&quot;$&quot;0&quot;B&quot;" sourceLinked="0"/>
        <c:majorTickMark val="out"/>
        <c:minorTickMark val="none"/>
        <c:tickLblPos val="nextTo"/>
        <c:crossAx val="2094734554"/>
        <c:crosses val="autoZero"/>
        <c:crossBetween val="midCat"/>
        <c:majorUnit val="3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63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Lag: measured gap between a frontier model reaching a horizon and an open model matching it averages ~5 months across the four pairs shown (range 3-7).
FABLE 5 TASK HORIZON — no METR figure published. Plotted at the &gt;=16 hr floor.
  - METR measured an early Claude Mythos Preview in Mar-26 at &gt;=16 hrs (point estimate ~17.4 hrs; 95% CI 8.5-55 hrs). Only 5 of 228 tasks run 16 hrs+, so anything above 16 is barely measurable.
  - Working estimate for Fable 5: ~20 hrs (range 17-30). Trend alone (4-month doubling) implies ~29 hrs, but Anthropic describes Mythos 5 as "comparable to, or somewhat stronger than" Mythos Preview, and Fable 5 is the same underlying model - an incremental step, not a generational one.
  - METR lists GPT-5.5 as having NO published time horizon; the 13 hrs shown needs a source or the same n/a treatment.
  - Vendor claims are a DIFFERENT UNIT (wall-clock runtime, not human-task duration): Anthropic says Fable 5 can work "for days" in a harness; Stripe ran a 50M-line migration in a day; Mythos 5 ran genomics work over a week. OpenAI reports Astra taking 29 hrs to reach code execution. Do not plot these on the METR axis.
Bottom chart is a native editable PowerPoint area chart: right-click &gt; Edit Data. Column B = frontier ARR, column C = open ceiling; D and E are formulas feeding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59" y="128016"/>
            <a:ext cx="10875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Frontier Models Monetize The 4 Month Capability Gap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87079" y="2549189"/>
            <a:ext cx="64008" cy="0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-9032" y="2448605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5 min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87079" y="2258792"/>
            <a:ext cx="64008" cy="0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-9032" y="21582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15 min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87079" y="1892353"/>
            <a:ext cx="64008" cy="0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-9032" y="1791769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 hr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87079" y="1525913"/>
            <a:ext cx="64008" cy="0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-9032" y="1425329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4 hrs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7079" y="1159473"/>
            <a:ext cx="64008" cy="0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-9032" y="1058889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16 hrs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46515" y="896112"/>
            <a:ext cx="0" cy="1847088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1087" y="2743200"/>
            <a:ext cx="9010418" cy="0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 rot="16200000">
            <a:off x="-397513" y="2007109"/>
            <a:ext cx="14202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Task Horizon </a:t>
            </a:r>
            <a:endParaRPr lang="en-US" sz="1100" b="1" dirty="0"/>
          </a:p>
        </p:txBody>
      </p:sp>
      <p:sp>
        <p:nvSpPr>
          <p:cNvPr id="16" name="Shape 14"/>
          <p:cNvSpPr/>
          <p:nvPr/>
        </p:nvSpPr>
        <p:spPr>
          <a:xfrm>
            <a:off x="951087" y="2296618"/>
            <a:ext cx="2002315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0795" y="224632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33383" y="1875994"/>
            <a:ext cx="411480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o1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13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53403" y="1754696"/>
            <a:ext cx="150173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53403" y="1754696"/>
            <a:ext cx="0" cy="541922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903111" y="1704404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035699" y="1334072"/>
            <a:ext cx="662940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Opus 4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 hr 41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55139" y="1674112"/>
            <a:ext cx="150173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55139" y="1674112"/>
            <a:ext cx="0" cy="80583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04847" y="162382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37435" y="1253488"/>
            <a:ext cx="713232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GPT-5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2 hrs 17 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56876" y="1436973"/>
            <a:ext cx="2002315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56876" y="1436973"/>
            <a:ext cx="0" cy="237138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06584" y="1386681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039172" y="1016349"/>
            <a:ext cx="713232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Opus 4.5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5 hrs 36 min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59191" y="1214358"/>
            <a:ext cx="2002315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959191" y="1214358"/>
            <a:ext cx="0" cy="222614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908899" y="116406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041487" y="793734"/>
            <a:ext cx="569671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GPT-5.5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13 hrs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52245" y="2424953"/>
            <a:ext cx="4004630" cy="0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901953" y="2374661"/>
            <a:ext cx="100584" cy="100584"/>
          </a:xfrm>
          <a:prstGeom prst="ellipse">
            <a:avLst/>
          </a:prstGeom>
          <a:solidFill>
            <a:srgbClr val="E8453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2034541" y="2534681"/>
            <a:ext cx="832104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E8453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DeepSeek R1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E8453C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8 min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56876" y="1892353"/>
            <a:ext cx="1501736" cy="0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56876" y="1892353"/>
            <a:ext cx="0" cy="532600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906584" y="1842061"/>
            <a:ext cx="100584" cy="100584"/>
          </a:xfrm>
          <a:prstGeom prst="ellipse">
            <a:avLst/>
          </a:prstGeom>
          <a:solidFill>
            <a:srgbClr val="E8453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039172" y="2002081"/>
            <a:ext cx="569671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E8453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Kimi K2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E8453C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 hr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58612" y="1601956"/>
            <a:ext cx="2502894" cy="0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458612" y="1601956"/>
            <a:ext cx="0" cy="290396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408320" y="1551664"/>
            <a:ext cx="100584" cy="100584"/>
          </a:xfrm>
          <a:prstGeom prst="ellipse">
            <a:avLst/>
          </a:prstGeom>
          <a:solidFill>
            <a:srgbClr val="E8453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7540908" y="1711684"/>
            <a:ext cx="832104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E8453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DeepSeek V4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E8453C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3 hrs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961506" y="1214358"/>
            <a:ext cx="0" cy="0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961506" y="1214358"/>
            <a:ext cx="0" cy="387597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911214" y="1164066"/>
            <a:ext cx="100584" cy="100584"/>
          </a:xfrm>
          <a:prstGeom prst="ellipse">
            <a:avLst/>
          </a:prstGeom>
          <a:solidFill>
            <a:srgbClr val="E8453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9056250" y="1598406"/>
            <a:ext cx="960120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E8453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Kimi K3</a:t>
            </a:r>
            <a:endParaRPr lang="en-US" sz="1100" dirty="0"/>
          </a:p>
          <a:p>
            <a:pPr marL="0" indent="0" algn="r">
              <a:lnSpc>
                <a:spcPct val="90000"/>
              </a:lnSpc>
              <a:buNone/>
            </a:pPr>
            <a:r>
              <a:rPr lang="en-US" sz="900" dirty="0">
                <a:solidFill>
                  <a:srgbClr val="E8453C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~13 hrs (est.)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406063" y="1056875"/>
            <a:ext cx="109728" cy="109728"/>
          </a:xfrm>
          <a:prstGeom prst="ellipse">
            <a:avLst/>
          </a:prstGeom>
          <a:solidFill>
            <a:srgbClr val="000000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9543223" y="691115"/>
            <a:ext cx="569671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Fable 5</a:t>
            </a:r>
            <a:endParaRPr lang="en-US" sz="11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≥ 16 hrs</a:t>
            </a:r>
            <a:endParaRPr lang="en-US" sz="110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09A0F24-BE31-59D3-0B5B-42D506FCA627}"/>
              </a:ext>
            </a:extLst>
          </p:cNvPr>
          <p:cNvGrpSpPr/>
          <p:nvPr/>
        </p:nvGrpSpPr>
        <p:grpSpPr>
          <a:xfrm>
            <a:off x="1147684" y="721592"/>
            <a:ext cx="1828800" cy="214566"/>
            <a:chOff x="1195908" y="721592"/>
            <a:chExt cx="1828800" cy="237744"/>
          </a:xfrm>
        </p:grpSpPr>
        <p:sp>
          <p:nvSpPr>
            <p:cNvPr id="59" name="Shape 57"/>
            <p:cNvSpPr/>
            <p:nvPr/>
          </p:nvSpPr>
          <p:spPr>
            <a:xfrm>
              <a:off x="1195908" y="785600"/>
              <a:ext cx="118872" cy="118872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0" name="Text 58"/>
            <p:cNvSpPr txBox="1"/>
            <p:nvPr/>
          </p:nvSpPr>
          <p:spPr>
            <a:xfrm>
              <a:off x="1378788" y="721592"/>
              <a:ext cx="1645920" cy="237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Bahnschrift Light" pitchFamily="34" charset="0"/>
                  <a:ea typeface="Bahnschrift Light" pitchFamily="34" charset="-122"/>
                  <a:cs typeface="Bahnschrift Light" pitchFamily="34" charset="-120"/>
                </a:rPr>
                <a:t>Frontier</a:t>
              </a:r>
              <a:endParaRPr lang="en-US" sz="1100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D8CFD9B-BB1B-506F-957E-875D398678B5}"/>
              </a:ext>
            </a:extLst>
          </p:cNvPr>
          <p:cNvGrpSpPr/>
          <p:nvPr/>
        </p:nvGrpSpPr>
        <p:grpSpPr>
          <a:xfrm>
            <a:off x="1147684" y="995912"/>
            <a:ext cx="1062649" cy="182880"/>
            <a:chOff x="1195908" y="995912"/>
            <a:chExt cx="1062649" cy="182880"/>
          </a:xfrm>
        </p:grpSpPr>
        <p:sp>
          <p:nvSpPr>
            <p:cNvPr id="61" name="Shape 59"/>
            <p:cNvSpPr/>
            <p:nvPr/>
          </p:nvSpPr>
          <p:spPr>
            <a:xfrm>
              <a:off x="1195908" y="1059920"/>
              <a:ext cx="118872" cy="118872"/>
            </a:xfrm>
            <a:prstGeom prst="ellipse">
              <a:avLst/>
            </a:prstGeom>
            <a:solidFill>
              <a:srgbClr val="E8453C"/>
            </a:solidFill>
            <a:ln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2" name="Text 60"/>
            <p:cNvSpPr txBox="1"/>
            <p:nvPr/>
          </p:nvSpPr>
          <p:spPr>
            <a:xfrm>
              <a:off x="1378788" y="995912"/>
              <a:ext cx="879769" cy="182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E8453C"/>
                  </a:solidFill>
                  <a:latin typeface="Bahnschrift Light" pitchFamily="34" charset="0"/>
                  <a:ea typeface="Bahnschrift Light" pitchFamily="34" charset="-122"/>
                  <a:cs typeface="Bahnschrift Light" pitchFamily="34" charset="-120"/>
                </a:rPr>
                <a:t>Open source</a:t>
              </a:r>
              <a:endParaRPr lang="en-US" sz="1100" dirty="0"/>
            </a:p>
          </p:txBody>
        </p:sp>
      </p:grpSp>
      <p:graphicFrame>
        <p:nvGraphicFramePr>
          <p:cNvPr id="82" name="Chart Axes"/>
          <p:cNvGraphicFramePr/>
          <p:nvPr/>
        </p:nvGraphicFramePr>
        <p:xfrm>
          <a:off x="244144" y="2971800"/>
          <a:ext cx="9850831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3" name="Chart 0"/>
          <p:cNvGraphicFramePr/>
          <p:nvPr/>
        </p:nvGraphicFramePr>
        <p:xfrm>
          <a:off x="244144" y="2971800"/>
          <a:ext cx="9850831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1" name="Chart Open"/>
          <p:cNvGraphicFramePr/>
          <p:nvPr>
            <p:extLst>
              <p:ext uri="{D42A27DB-BD31-4B8C-83A1-F6EECF244321}">
                <p14:modId xmlns:p14="http://schemas.microsoft.com/office/powerpoint/2010/main" val="2315720508"/>
              </p:ext>
            </p:extLst>
          </p:nvPr>
        </p:nvGraphicFramePr>
        <p:xfrm>
          <a:off x="244144" y="2971800"/>
          <a:ext cx="9850831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4" name="Text 61"/>
          <p:cNvSpPr txBox="1"/>
          <p:nvPr/>
        </p:nvSpPr>
        <p:spPr>
          <a:xfrm rot="16200000">
            <a:off x="-334505" y="4359797"/>
            <a:ext cx="1126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ARR ($B)</a:t>
            </a:r>
            <a:endParaRPr lang="en-US" sz="1100" b="1" dirty="0"/>
          </a:p>
        </p:txBody>
      </p:sp>
      <p:sp>
        <p:nvSpPr>
          <p:cNvPr id="66" name="Shape 63"/>
          <p:cNvSpPr/>
          <p:nvPr/>
        </p:nvSpPr>
        <p:spPr>
          <a:xfrm>
            <a:off x="951087" y="2388058"/>
            <a:ext cx="0" cy="3357843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2953403" y="1846136"/>
            <a:ext cx="0" cy="3780726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4455139" y="1765552"/>
            <a:ext cx="0" cy="3704678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5956876" y="1528413"/>
            <a:ext cx="0" cy="3736990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7959191" y="1305798"/>
            <a:ext cx="0" cy="3525854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 txBox="1"/>
          <p:nvPr/>
        </p:nvSpPr>
        <p:spPr>
          <a:xfrm>
            <a:off x="365760" y="647395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Task horizon: METR 50%-success; Fable 5 unscored, plotted at the ≥16 hr floor METR measured for Mythos Preview (Mar’26). Frontier ARR = OpenAI + Anthropic (BLK FE Tech). Open-source ARR = reported (Zhipu $1.6B 1H26, MiniMax ~$0.8B, Moonshot ~$0.4B, DeepSeek ~$0.3B; bases differ). Hatched = illustrative surplus: open weights’ 25% share of token spend (deck p.11) less what the open labs book — value realised by buyers, not booked by any vendor.</a:t>
            </a:r>
            <a:endParaRPr lang="en-US" sz="900" dirty="0"/>
          </a:p>
        </p:txBody>
      </p:sp>
      <p:sp>
        <p:nvSpPr>
          <p:cNvPr id="78" name="Text 75"/>
          <p:cNvSpPr txBox="1"/>
          <p:nvPr/>
        </p:nvSpPr>
        <p:spPr>
          <a:xfrm>
            <a:off x="11430000" y="64556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15</a:t>
            </a:r>
            <a:endParaRPr lang="en-US" sz="900" dirty="0"/>
          </a:p>
        </p:txBody>
      </p:sp>
      <p:cxnSp>
        <p:nvCxnSpPr>
          <p:cNvPr id="320" name="Connector 319"/>
          <p:cNvCxnSpPr/>
          <p:nvPr/>
        </p:nvCxnSpPr>
        <p:spPr>
          <a:xfrm>
            <a:off x="7959191" y="1415526"/>
            <a:ext cx="2002315" cy="0"/>
          </a:xfrm>
          <a:prstGeom prst="line">
            <a:avLst/>
          </a:prstGeom>
          <a:ln w="15875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7959191" y="1260078"/>
            <a:ext cx="0" cy="155448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9961506" y="1260078"/>
            <a:ext cx="0" cy="155448"/>
          </a:xfrm>
          <a:prstGeom prst="line">
            <a:avLst/>
          </a:prstGeom>
          <a:ln w="15875">
            <a:solidFill>
              <a:srgbClr val="E84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TextBox 322"/>
          <p:cNvSpPr txBox="1"/>
          <p:nvPr/>
        </p:nvSpPr>
        <p:spPr>
          <a:xfrm>
            <a:off x="8760117" y="1159494"/>
            <a:ext cx="1673131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FFFF00"/>
                </a:solidFill>
                <a:latin typeface="Bahnschrift"/>
              </a:rPr>
              <a:t>4 months</a:t>
            </a:r>
            <a:r>
              <a:rPr sz="1100" b="0" dirty="0">
                <a:solidFill>
                  <a:srgbClr val="FFFF00"/>
                </a:solidFill>
                <a:latin typeface="Bahnschrift Light"/>
              </a:rPr>
              <a:t> behind</a:t>
            </a:r>
          </a:p>
        </p:txBody>
      </p:sp>
      <p:cxnSp>
        <p:nvCxnSpPr>
          <p:cNvPr id="324" name="Connector 323"/>
          <p:cNvCxnSpPr/>
          <p:nvPr/>
        </p:nvCxnSpPr>
        <p:spPr>
          <a:xfrm>
            <a:off x="1952245" y="2516393"/>
            <a:ext cx="0" cy="3386395"/>
          </a:xfrm>
          <a:prstGeom prst="line">
            <a:avLst/>
          </a:prstGeom>
          <a:ln w="12700">
            <a:solidFill>
              <a:srgbClr val="E845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5956876" y="1983793"/>
            <a:ext cx="0" cy="3907188"/>
          </a:xfrm>
          <a:prstGeom prst="line">
            <a:avLst/>
          </a:prstGeom>
          <a:ln w="12700">
            <a:solidFill>
              <a:srgbClr val="E845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7458612" y="1693396"/>
            <a:ext cx="0" cy="4186741"/>
          </a:xfrm>
          <a:prstGeom prst="line">
            <a:avLst/>
          </a:prstGeom>
          <a:ln w="12700">
            <a:solidFill>
              <a:srgbClr val="E845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9961506" y="1305798"/>
            <a:ext cx="0" cy="4538433"/>
          </a:xfrm>
          <a:prstGeom prst="line">
            <a:avLst/>
          </a:prstGeom>
          <a:ln w="12700">
            <a:solidFill>
              <a:srgbClr val="E845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TextBox 335"/>
          <p:cNvSpPr txBox="1"/>
          <p:nvPr/>
        </p:nvSpPr>
        <p:spPr>
          <a:xfrm>
            <a:off x="10076688" y="3931920"/>
            <a:ext cx="2057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b="1" dirty="0">
                <a:solidFill>
                  <a:srgbClr val="FFFFFF"/>
                </a:solidFill>
                <a:latin typeface="Bahnschrift"/>
              </a:rPr>
              <a:t>Anthropic &amp; OpenAI ARR </a:t>
            </a:r>
          </a:p>
          <a:p>
            <a:r>
              <a:rPr sz="1150" b="1" dirty="0">
                <a:solidFill>
                  <a:srgbClr val="FFFFFF"/>
                </a:solidFill>
                <a:latin typeface="Bahnschrift"/>
              </a:rPr>
              <a:t>$106B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10076688" y="4983480"/>
            <a:ext cx="20574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dirty="0">
                <a:solidFill>
                  <a:srgbClr val="E8453C"/>
                </a:solidFill>
                <a:latin typeface="Bahnschrift"/>
              </a:rPr>
              <a:t>Potential </a:t>
            </a:r>
            <a:r>
              <a:rPr lang="en-US" sz="1150" b="1" dirty="0">
                <a:solidFill>
                  <a:srgbClr val="E8453C"/>
                </a:solidFill>
                <a:latin typeface="Bahnschrift"/>
              </a:rPr>
              <a:t>Frontier</a:t>
            </a:r>
            <a:r>
              <a:rPr sz="1150" b="1" dirty="0">
                <a:solidFill>
                  <a:srgbClr val="E8453C"/>
                </a:solidFill>
                <a:latin typeface="Bahnschrift"/>
              </a:rPr>
              <a:t> </a:t>
            </a:r>
            <a:r>
              <a:rPr lang="en-US" sz="1150" b="1" dirty="0">
                <a:solidFill>
                  <a:srgbClr val="E8453C"/>
                </a:solidFill>
                <a:latin typeface="Bahnschrift"/>
              </a:rPr>
              <a:t>Commoditization </a:t>
            </a:r>
            <a:r>
              <a:rPr sz="900" dirty="0">
                <a:solidFill>
                  <a:srgbClr val="9A9A9A"/>
                </a:solidFill>
                <a:latin typeface="Bahnschrift Light"/>
              </a:rPr>
              <a:t>
captured by enterprise buyers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0076688" y="5806440"/>
            <a:ext cx="2057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dirty="0">
                <a:solidFill>
                  <a:srgbClr val="E8453C"/>
                </a:solidFill>
                <a:latin typeface="Bahnschrift"/>
              </a:rPr>
              <a:t>Open</a:t>
            </a:r>
            <a:r>
              <a:rPr lang="en-US" sz="1150" b="1" dirty="0">
                <a:solidFill>
                  <a:srgbClr val="E8453C"/>
                </a:solidFill>
                <a:latin typeface="Bahnschrift"/>
              </a:rPr>
              <a:t> </a:t>
            </a:r>
            <a:r>
              <a:rPr sz="1150" b="1" dirty="0">
                <a:solidFill>
                  <a:srgbClr val="E8453C"/>
                </a:solidFill>
                <a:latin typeface="Bahnschrift"/>
              </a:rPr>
              <a:t>source ARR  $3.1B</a:t>
            </a:r>
          </a:p>
        </p:txBody>
      </p:sp>
      <p:sp>
        <p:nvSpPr>
          <p:cNvPr id="341" name="Oval 340"/>
          <p:cNvSpPr/>
          <p:nvPr/>
        </p:nvSpPr>
        <p:spPr>
          <a:xfrm>
            <a:off x="1901953" y="5907360"/>
            <a:ext cx="100584" cy="100584"/>
          </a:xfrm>
          <a:prstGeom prst="ellipse">
            <a:avLst/>
          </a:prstGeom>
          <a:solidFill>
            <a:srgbClr val="E8453C"/>
          </a:solidFill>
          <a:ln w="1587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5906584" y="5895553"/>
            <a:ext cx="100584" cy="100584"/>
          </a:xfrm>
          <a:prstGeom prst="ellipse">
            <a:avLst/>
          </a:prstGeom>
          <a:solidFill>
            <a:srgbClr val="E8453C"/>
          </a:solidFill>
          <a:ln w="1587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7408320" y="5884709"/>
            <a:ext cx="100584" cy="100584"/>
          </a:xfrm>
          <a:prstGeom prst="ellipse">
            <a:avLst/>
          </a:prstGeom>
          <a:solidFill>
            <a:srgbClr val="E8453C"/>
          </a:solidFill>
          <a:ln w="1587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9911214" y="5848804"/>
            <a:ext cx="100584" cy="100584"/>
          </a:xfrm>
          <a:prstGeom prst="ellipse">
            <a:avLst/>
          </a:prstGeom>
          <a:solidFill>
            <a:srgbClr val="E8453C"/>
          </a:solidFill>
          <a:ln w="1587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5" name="Connector 344"/>
          <p:cNvCxnSpPr/>
          <p:nvPr/>
        </p:nvCxnSpPr>
        <p:spPr>
          <a:xfrm>
            <a:off x="9460927" y="1203179"/>
            <a:ext cx="0" cy="2476626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6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6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6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6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6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6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6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6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6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2" grpId="0" animBg="1"/>
      <p:bldP spid="54" grpId="0" animBg="1"/>
      <p:bldP spid="64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320" grpId="0" animBg="1"/>
      <p:bldP spid="321" grpId="0" animBg="1"/>
      <p:bldP spid="322" grpId="0" animBg="1"/>
      <p:bldP spid="323" grpId="0"/>
      <p:bldP spid="324" grpId="0" animBg="1"/>
      <p:bldP spid="325" grpId="0" animBg="1"/>
      <p:bldP spid="326" grpId="0" animBg="1"/>
      <p:bldP spid="327" grpId="0" animBg="1"/>
      <p:bldP spid="336" grpId="0" animBg="1"/>
      <p:bldP spid="338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494</Words>
  <Application>Microsoft Macintosh PowerPoint</Application>
  <PresentationFormat>Widescreen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Bahnschrift</vt:lpstr>
      <vt:lpstr>Bahnschrift Light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Peter Noel-Spencer</cp:lastModifiedBy>
  <cp:revision>5</cp:revision>
  <dcterms:created xsi:type="dcterms:W3CDTF">2026-09-11T01:20:47Z</dcterms:created>
  <dcterms:modified xsi:type="dcterms:W3CDTF">2026-09-11T15:50:54Z</dcterms:modified>
</cp:coreProperties>
</file>