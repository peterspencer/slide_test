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0990" y="209545"/>
            <a:ext cx="9524762" cy="53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 Tokens, Not Cheaper Tasks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380990" y="1041056"/>
            <a:ext cx="6286343" cy="257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Half the price per token, twice the tokens per task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380990" y="1316322"/>
            <a:ext cx="628634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GPT-5.6 Sol vs Kimi K3, cost per task at API prices — Artificial Analysis, Jul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8674" y="2309279"/>
            <a:ext cx="1904952" cy="24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Closed: GPT-5.6 Sol</a:t>
            </a:r>
            <a:endParaRPr lang="en-US" sz="1280" dirty="0"/>
          </a:p>
        </p:txBody>
      </p:sp>
      <p:sp>
        <p:nvSpPr>
          <p:cNvPr id="6" name="Text 4"/>
          <p:cNvSpPr txBox="1"/>
          <p:nvPr/>
        </p:nvSpPr>
        <p:spPr>
          <a:xfrm>
            <a:off x="4552836" y="2537873"/>
            <a:ext cx="1904952" cy="24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Open: Kimi K3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2857429" y="3962301"/>
            <a:ext cx="152396" cy="1371566"/>
          </a:xfrm>
          <a:custGeom>
            <a:avLst/>
            <a:gdLst/>
            <a:ahLst/>
            <a:cxnLst/>
            <a:rect l="l" t="t" r="r" b="b"/>
            <a:pathLst>
              <a:path w="152396" h="1371566">
                <a:moveTo>
                  <a:pt x="0" y="85723"/>
                </a:moveTo>
                <a:lnTo>
                  <a:pt x="152396" y="0"/>
                </a:lnTo>
                <a:lnTo>
                  <a:pt x="152396" y="1285843"/>
                </a:lnTo>
                <a:lnTo>
                  <a:pt x="0" y="1371566"/>
                </a:lnTo>
                <a:close/>
              </a:path>
            </a:pathLst>
          </a:cu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476" y="4048024"/>
            <a:ext cx="1904952" cy="1285843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2476" y="4293286"/>
            <a:ext cx="1904952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26262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List price / token</a:t>
            </a:r>
            <a:endParaRPr lang="en-US" sz="1130" dirty="0"/>
          </a:p>
        </p:txBody>
      </p:sp>
      <p:sp>
        <p:nvSpPr>
          <p:cNvPr id="10" name="Text 8"/>
          <p:cNvSpPr txBox="1"/>
          <p:nvPr/>
        </p:nvSpPr>
        <p:spPr>
          <a:xfrm>
            <a:off x="952476" y="4527596"/>
            <a:ext cx="1904952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6262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$5 / $30 per M tokens</a:t>
            </a:r>
            <a:endParaRPr lang="en-US" sz="830" dirty="0"/>
          </a:p>
        </p:txBody>
      </p:sp>
      <p:sp>
        <p:nvSpPr>
          <p:cNvPr id="11" name="Text 9"/>
          <p:cNvSpPr txBox="1"/>
          <p:nvPr/>
        </p:nvSpPr>
        <p:spPr>
          <a:xfrm>
            <a:off x="952476" y="4777621"/>
            <a:ext cx="1904952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$0.52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57429" y="2676458"/>
            <a:ext cx="152396" cy="1371566"/>
          </a:xfrm>
          <a:custGeom>
            <a:avLst/>
            <a:gdLst/>
            <a:ahLst/>
            <a:cxnLst/>
            <a:rect l="l" t="t" r="r" b="b"/>
            <a:pathLst>
              <a:path w="152396" h="1371566">
                <a:moveTo>
                  <a:pt x="0" y="85723"/>
                </a:moveTo>
                <a:lnTo>
                  <a:pt x="152396" y="0"/>
                </a:lnTo>
                <a:lnTo>
                  <a:pt x="152396" y="1285843"/>
                </a:lnTo>
                <a:lnTo>
                  <a:pt x="0" y="1371566"/>
                </a:lnTo>
                <a:close/>
              </a:path>
            </a:pathLst>
          </a:cu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2476" y="2762181"/>
            <a:ext cx="1904952" cy="128584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476" y="2676458"/>
            <a:ext cx="2057349" cy="85723"/>
          </a:xfrm>
          <a:custGeom>
            <a:avLst/>
            <a:gdLst/>
            <a:ahLst/>
            <a:cxnLst/>
            <a:rect l="l" t="t" r="r" b="b"/>
            <a:pathLst>
              <a:path w="2057349" h="85723">
                <a:moveTo>
                  <a:pt x="0" y="85723"/>
                </a:moveTo>
                <a:lnTo>
                  <a:pt x="1904952" y="85723"/>
                </a:lnTo>
                <a:lnTo>
                  <a:pt x="2057349" y="0"/>
                </a:lnTo>
                <a:lnTo>
                  <a:pt x="152396" y="0"/>
                </a:lnTo>
                <a:close/>
              </a:path>
            </a:pathLst>
          </a:cu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2476" y="4038499"/>
            <a:ext cx="1904952" cy="1905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2476" y="3016968"/>
            <a:ext cx="1904952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26262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Tokens per task</a:t>
            </a:r>
            <a:endParaRPr lang="en-US" sz="1130" dirty="0"/>
          </a:p>
        </p:txBody>
      </p:sp>
      <p:sp>
        <p:nvSpPr>
          <p:cNvPr id="17" name="Text 15"/>
          <p:cNvSpPr txBox="1"/>
          <p:nvPr/>
        </p:nvSpPr>
        <p:spPr>
          <a:xfrm>
            <a:off x="952476" y="3264136"/>
            <a:ext cx="1904952" cy="314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1.0×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952476" y="3653699"/>
            <a:ext cx="1904952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+$0.52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81590" y="4600460"/>
            <a:ext cx="152396" cy="733407"/>
          </a:xfrm>
          <a:custGeom>
            <a:avLst/>
            <a:gdLst/>
            <a:ahLst/>
            <a:cxnLst/>
            <a:rect l="l" t="t" r="r" b="b"/>
            <a:pathLst>
              <a:path w="152396" h="733407">
                <a:moveTo>
                  <a:pt x="0" y="85723"/>
                </a:moveTo>
                <a:lnTo>
                  <a:pt x="152396" y="0"/>
                </a:lnTo>
                <a:lnTo>
                  <a:pt x="152396" y="647684"/>
                </a:lnTo>
                <a:lnTo>
                  <a:pt x="0" y="733407"/>
                </a:lnTo>
                <a:close/>
              </a:path>
            </a:pathLst>
          </a:custGeom>
          <a:solidFill>
            <a:srgbClr val="9E2F14"/>
          </a:solidFill>
          <a:ln w="12700">
            <a:solidFill>
              <a:srgbClr val="9E2F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76638" y="4686183"/>
            <a:ext cx="1904952" cy="647684"/>
          </a:xfrm>
          <a:prstGeom prst="rect">
            <a:avLst/>
          </a:prstGeom>
          <a:solidFill>
            <a:srgbClr val="E64823"/>
          </a:solidFill>
          <a:ln w="12700">
            <a:solidFill>
              <a:srgbClr val="E6482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76638" y="4791431"/>
            <a:ext cx="1904952" cy="185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List price / token</a:t>
            </a:r>
            <a:endParaRPr lang="en-US" sz="980" dirty="0"/>
          </a:p>
        </p:txBody>
      </p:sp>
      <p:sp>
        <p:nvSpPr>
          <p:cNvPr id="22" name="Text 20"/>
          <p:cNvSpPr txBox="1"/>
          <p:nvPr/>
        </p:nvSpPr>
        <p:spPr>
          <a:xfrm>
            <a:off x="4476638" y="5022883"/>
            <a:ext cx="1904952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$3 / $15 per M tokens · $0.26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6381590" y="2895528"/>
            <a:ext cx="152396" cy="1790655"/>
          </a:xfrm>
          <a:custGeom>
            <a:avLst/>
            <a:gdLst/>
            <a:ahLst/>
            <a:cxnLst/>
            <a:rect l="l" t="t" r="r" b="b"/>
            <a:pathLst>
              <a:path w="152396" h="1790655">
                <a:moveTo>
                  <a:pt x="0" y="85723"/>
                </a:moveTo>
                <a:lnTo>
                  <a:pt x="152396" y="0"/>
                </a:lnTo>
                <a:lnTo>
                  <a:pt x="152396" y="1704932"/>
                </a:lnTo>
                <a:lnTo>
                  <a:pt x="0" y="1790655"/>
                </a:lnTo>
                <a:close/>
              </a:path>
            </a:pathLst>
          </a:custGeom>
          <a:solidFill>
            <a:srgbClr val="7A2410"/>
          </a:solidFill>
          <a:ln w="12700">
            <a:solidFill>
              <a:srgbClr val="7A24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76638" y="2981250"/>
            <a:ext cx="1904952" cy="1704932"/>
          </a:xfrm>
          <a:prstGeom prst="rect">
            <a:avLst/>
          </a:prstGeom>
          <a:solidFill>
            <a:srgbClr val="C43A18"/>
          </a:solidFill>
          <a:ln w="12700">
            <a:solidFill>
              <a:srgbClr val="C43A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6638" y="2895528"/>
            <a:ext cx="2057349" cy="85723"/>
          </a:xfrm>
          <a:custGeom>
            <a:avLst/>
            <a:gdLst/>
            <a:ahLst/>
            <a:cxnLst/>
            <a:rect l="l" t="t" r="r" b="b"/>
            <a:pathLst>
              <a:path w="2057349" h="85723">
                <a:moveTo>
                  <a:pt x="0" y="85723"/>
                </a:moveTo>
                <a:lnTo>
                  <a:pt x="1904952" y="85723"/>
                </a:lnTo>
                <a:lnTo>
                  <a:pt x="2057349" y="0"/>
                </a:lnTo>
                <a:lnTo>
                  <a:pt x="152396" y="0"/>
                </a:lnTo>
                <a:close/>
              </a:path>
            </a:pathLst>
          </a:custGeom>
          <a:solidFill>
            <a:srgbClr val="F0846A"/>
          </a:solidFill>
          <a:ln w="12700">
            <a:solidFill>
              <a:srgbClr val="F084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76638" y="4676658"/>
            <a:ext cx="1904952" cy="1905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76638" y="3367956"/>
            <a:ext cx="1904952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Tokens per task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476638" y="3614647"/>
            <a:ext cx="1904952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1.8×</a:t>
            </a:r>
            <a:endParaRPr lang="en-US" sz="2250" dirty="0"/>
          </a:p>
        </p:txBody>
      </p:sp>
      <p:sp>
        <p:nvSpPr>
          <p:cNvPr id="29" name="Text 27"/>
          <p:cNvSpPr txBox="1"/>
          <p:nvPr/>
        </p:nvSpPr>
        <p:spPr>
          <a:xfrm>
            <a:off x="4476638" y="4129937"/>
            <a:ext cx="1904952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+$0.69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66973" y="4762381"/>
            <a:ext cx="1371566" cy="247644"/>
          </a:xfrm>
          <a:prstGeom prst="line">
            <a:avLst/>
          </a:prstGeom>
          <a:noFill/>
          <a:ln w="25400">
            <a:solidFill>
              <a:srgbClr val="FFFF00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2971726" y="4516642"/>
            <a:ext cx="152396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FFFF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0.5× the list price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66973" y="3390815"/>
            <a:ext cx="1371566" cy="438139"/>
          </a:xfrm>
          <a:prstGeom prst="line">
            <a:avLst/>
          </a:prstGeom>
          <a:noFill/>
          <a:ln w="25400">
            <a:solidFill>
              <a:srgbClr val="FFFF0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2781230" y="3126027"/>
            <a:ext cx="19049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FFFF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1.8× the tokens per task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66773" y="5505312"/>
            <a:ext cx="1676358" cy="323842"/>
          </a:xfrm>
          <a:prstGeom prst="rect">
            <a:avLst/>
          </a:prstGeom>
          <a:solidFill>
            <a:srgbClr val="404040"/>
          </a:solidFill>
          <a:ln w="25400">
            <a:solidFill>
              <a:srgbClr val="FFFF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6773" y="5514837"/>
            <a:ext cx="1676358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$1.04 / task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590935" y="5505312"/>
            <a:ext cx="1676358" cy="323842"/>
          </a:xfrm>
          <a:prstGeom prst="rect">
            <a:avLst/>
          </a:prstGeom>
          <a:solidFill>
            <a:srgbClr val="404040"/>
          </a:solidFill>
          <a:ln w="25400">
            <a:solidFill>
              <a:srgbClr val="FFFF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90935" y="5514837"/>
            <a:ext cx="1676358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$0.95 / task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2819330" y="5667233"/>
            <a:ext cx="1695408" cy="0"/>
          </a:xfrm>
          <a:prstGeom prst="line">
            <a:avLst/>
          </a:prstGeom>
          <a:noFill/>
          <a:ln w="25400">
            <a:solidFill>
              <a:srgbClr val="FFFF00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2819330" y="5439115"/>
            <a:ext cx="1695408" cy="185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i="1" dirty="0">
                <a:solidFill>
                  <a:srgbClr val="FFFF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≈ same cost per task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7048324" y="1142971"/>
            <a:ext cx="0" cy="4762381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4482" y="3762281"/>
            <a:ext cx="647684" cy="0"/>
          </a:xfrm>
          <a:prstGeom prst="line">
            <a:avLst/>
          </a:prstGeom>
          <a:noFill/>
          <a:ln w="25400">
            <a:solidFill>
              <a:srgbClr val="FFFF00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6857829" y="3507017"/>
            <a:ext cx="38099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429314" y="1041056"/>
            <a:ext cx="4381390" cy="257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Share of tokens vs share of spend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7429314" y="1390615"/>
            <a:ext cx="114297" cy="114297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600760" y="1363946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Closed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191295" y="1390615"/>
            <a:ext cx="114297" cy="114297"/>
          </a:xfrm>
          <a:prstGeom prst="rect">
            <a:avLst/>
          </a:prstGeom>
          <a:solidFill>
            <a:srgbClr val="E64823"/>
          </a:solidFill>
          <a:ln w="12700">
            <a:solidFill>
              <a:srgbClr val="E6482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62741" y="1363946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Open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7429314" y="1989723"/>
            <a:ext cx="1904952" cy="20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% of tokens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429314" y="2257369"/>
            <a:ext cx="1533487" cy="438139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29314" y="2345949"/>
            <a:ext cx="1533487" cy="257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35%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8962801" y="2257369"/>
            <a:ext cx="2847904" cy="438139"/>
          </a:xfrm>
          <a:prstGeom prst="rect">
            <a:avLst/>
          </a:prstGeom>
          <a:solidFill>
            <a:srgbClr val="E64823"/>
          </a:solidFill>
          <a:ln w="12700">
            <a:solidFill>
              <a:srgbClr val="E6482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962801" y="2345949"/>
            <a:ext cx="2847904" cy="257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65%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7429314" y="3037447"/>
            <a:ext cx="1904952" cy="20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% of spend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429314" y="3305092"/>
            <a:ext cx="3286043" cy="438139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429314" y="3393673"/>
            <a:ext cx="3286043" cy="257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75%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10715357" y="3305092"/>
            <a:ext cx="1095348" cy="438139"/>
          </a:xfrm>
          <a:prstGeom prst="rect">
            <a:avLst/>
          </a:prstGeom>
          <a:solidFill>
            <a:srgbClr val="E64823"/>
          </a:solidFill>
          <a:ln w="12700">
            <a:solidFill>
              <a:srgbClr val="E6482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715357" y="3393673"/>
            <a:ext cx="1095348" cy="257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25%</a:t>
            </a:r>
            <a:endParaRPr lang="en-US" sz="1350" dirty="0"/>
          </a:p>
        </p:txBody>
      </p:sp>
      <p:sp>
        <p:nvSpPr>
          <p:cNvPr id="58" name="Text 56"/>
          <p:cNvSpPr txBox="1"/>
          <p:nvPr/>
        </p:nvSpPr>
        <p:spPr>
          <a:xfrm>
            <a:off x="7429314" y="3994685"/>
            <a:ext cx="1142971" cy="628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5.6×</a:t>
            </a:r>
            <a:endParaRPr lang="en-US" sz="3300" dirty="0"/>
          </a:p>
        </p:txBody>
      </p:sp>
      <p:sp>
        <p:nvSpPr>
          <p:cNvPr id="59" name="Text 57"/>
          <p:cNvSpPr txBox="1"/>
          <p:nvPr/>
        </p:nvSpPr>
        <p:spPr>
          <a:xfrm>
            <a:off x="8496088" y="4208992"/>
            <a:ext cx="2857429" cy="20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revenue per token,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8496088" y="4399488"/>
            <a:ext cx="2857429" cy="20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closed vs open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7429314" y="5133847"/>
            <a:ext cx="4381390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Volume is open. Value is closed.</a:t>
            </a:r>
            <a:endParaRPr lang="en-US" sz="1500" dirty="0"/>
          </a:p>
        </p:txBody>
      </p:sp>
      <p:sp>
        <p:nvSpPr>
          <p:cNvPr id="62" name="Text 60"/>
          <p:cNvSpPr txBox="1"/>
          <p:nvPr/>
        </p:nvSpPr>
        <p:spPr>
          <a:xfrm>
            <a:off x="380990" y="6078227"/>
            <a:ext cx="11429714" cy="27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i="1" dirty="0">
                <a:solidFill>
                  <a:srgbClr val="FFFF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Frontier models dominate value, not volume — because cost per task, not cost per token, is what customers buy.</a:t>
            </a:r>
            <a:endParaRPr lang="en-US" sz="1430" dirty="0"/>
          </a:p>
        </p:txBody>
      </p:sp>
      <p:sp>
        <p:nvSpPr>
          <p:cNvPr id="63" name="Text 61"/>
          <p:cNvSpPr txBox="1"/>
          <p:nvPr/>
        </p:nvSpPr>
        <p:spPr>
          <a:xfrm>
            <a:off x="380990" y="6476838"/>
            <a:ext cx="10953476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$ per task: Artificial Analysis Intelligence Index, Jul 2026, at API prices per attempt — Sol $1.04, Kimi K3 $0.95. List prices at measurement: Sol $5/$30 (cut to $4/$20 on Aug 21, 2026), K3 $3/$15. 1.8× tokens implied from cost ratio ÷ output-price ratio; block split = price × a common reference token count, totals measured.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 246 financial-research tasks it tips the other way: Sol 13% cheaper at 20% higher quality (AlphaSense, via The Information, Aug 13, 2026). Token and spend shares: BLK FE Tech.</a:t>
            </a:r>
            <a:endParaRPr lang="en-US" sz="700" dirty="0"/>
          </a:p>
        </p:txBody>
      </p:sp>
      <p:sp>
        <p:nvSpPr>
          <p:cNvPr id="64" name="Text 62"/>
          <p:cNvSpPr txBox="1"/>
          <p:nvPr/>
        </p:nvSpPr>
        <p:spPr>
          <a:xfrm>
            <a:off x="11429714" y="6650189"/>
            <a:ext cx="38099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2026-09-11T17:12:01Z</dcterms:created>
  <dcterms:modified xsi:type="dcterms:W3CDTF">2026-09-11T17:12:01Z</dcterms:modified>
</cp:coreProperties>
</file>