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strRef>
          <c:f>Sheet1!$D$2</c:f>
          <c:strCache>
            <c:ptCount val="1"/>
            <c:pt idx="0">
              <c:v>$275B</c:v>
            </c:pt>
          </c:strCache>
        </c:strRef>
      </c:tx>
      <c:layout>
        <c:manualLayout>
          <c:xMode val="edge"/>
          <c:yMode val="edge"/>
          <c:x val="0.6979"/>
          <c:y val="0.0824"/>
        </c:manualLayout>
      </c:layout>
      <c:overlay val="1"/>
      <c:spPr>
        <a:noFill/>
        <a:ln>
          <a:noFill/>
        </a:ln>
      </c:spPr>
      <c:txPr>
        <a:bodyPr rot="0" vert="horz" wrap="none"/>
        <a:lstStyle/>
        <a:p>
          <a:pPr>
            <a:defRPr sz="1300" b="1">
              <a:solidFill>
                <a:srgbClr val="FFFFFF"/>
              </a:solidFill>
              <a:latin typeface="Bahnschrift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97"/>
          <c:y val="0.7693"/>
          <c:w val="0.8761"/>
          <c:h val="0.1797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Free Cash Flow</c:v>
                </c:pt>
              </c:strCache>
            </c:strRef>
          </c:tx>
          <c:spPr>
            <a:solidFill>
              <a:srgbClr val="F2F2F2"/>
            </a:solidFill>
            <a:ln>
              <a:noFill/>
            </a:ln>
          </c:spPr>
          <c:invertIfNegative val="0"/>
          <c:dLbls>
            <c:dLbl>
              <c:idx val="0"/>
              <c:numFmt formatCode="&quot;$&quot;0.0&quot;B&quot;;-&quot;$&quot;0.0&quot;B&quot;" sourceLinked="0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  <a:latin typeface="Bahnschrif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&quot;$&quot;#,##0&quot;B&quot;;-&quot;$&quot;#,##0&quot;B&quot;" sourceLinked="0"/>
            <c:txPr>
              <a:bodyPr wrap="none" anchor="ctr"/>
              <a:lstStyle/>
              <a:p>
                <a:pPr>
                  <a:defRPr sz="1300" b="1">
                    <a:solidFill>
                      <a:srgbClr val="F2F2F2"/>
                    </a:solidFill>
                    <a:latin typeface="Bahnschrif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Sheet1!$B$2:$B$7</c:f>
              <c:numCache>
                <c:formatCode>"$"#,##0"B"</c:formatCode>
                <c:ptCount val="6"/>
                <c:pt idx="0">
                  <c:v>-2.8</c:v>
                </c:pt>
                <c:pt idx="1">
                  <c:v>4</c:v>
                </c:pt>
                <c:pt idx="2">
                  <c:v>10</c:v>
                </c:pt>
                <c:pt idx="3">
                  <c:v>29</c:v>
                </c:pt>
                <c:pt idx="4">
                  <c:v>82</c:v>
                </c:pt>
                <c:pt idx="5">
                  <c:v>153</c:v>
                </c:pt>
              </c:numCache>
            </c:numRef>
          </c:val>
        </c:ser>
        <c:gapWidth val="3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ln w="15875">
            <a:solidFill>
              <a:srgbClr val="C8C8C8"/>
            </a:solidFill>
          </a:ln>
        </c:sp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175.0"/>
          <c:min val="-100.0"/>
        </c:scaling>
        <c:delete val="0"/>
        <c:axPos val="l"/>
        <c:numFmt formatCode="&quot;$&quot;#,##0&quot;B&quot;;;&quot;$&quot;0&quot;B&quot;" sourceLinked="0"/>
        <c:majorTickMark val="none"/>
        <c:minorTickMark val="none"/>
        <c:tickLblPos val="nextTo"/>
        <c:spPr>
          <a:ln w="12700">
            <a:solidFill>
              <a:srgbClr val="C8C8C8"/>
            </a:solidFill>
          </a:ln>
        </c:spPr>
        <c:txPr>
          <a:bodyPr/>
          <a:lstStyle/>
          <a:p>
            <a:pPr>
              <a:defRPr sz="1000" b="1">
                <a:solidFill>
                  <a:srgbClr val="FFFFFF"/>
                </a:solidFill>
                <a:latin typeface="Bahnschrift"/>
              </a:defRPr>
            </a:pPr>
          </a:p>
        </c:txPr>
        <c:crossAx val="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B4B4B4"/>
          </a:solidFill>
          <a:latin typeface="Bahnschrif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strRef>
          <c:f>Sheet1!$G$2</c:f>
          <c:strCache>
            <c:ptCount val="1"/>
            <c:pt idx="0">
              <c:v>$1,682B</c:v>
            </c:pt>
          </c:strCache>
        </c:strRef>
      </c:tx>
      <c:layout>
        <c:manualLayout>
          <c:xMode val="edge"/>
          <c:yMode val="edge"/>
          <c:x val="0.1469"/>
          <c:y val="0.1163"/>
        </c:manualLayout>
      </c:layout>
      <c:overlay val="1"/>
      <c:spPr>
        <a:noFill/>
        <a:ln>
          <a:noFill/>
        </a:ln>
      </c:spPr>
      <c:txPr>
        <a:bodyPr rot="0" vert="horz" wrap="none"/>
        <a:lstStyle/>
        <a:p>
          <a:pPr>
            <a:defRPr sz="1300" b="1">
              <a:solidFill>
                <a:srgbClr val="FFFFFF"/>
              </a:solidFill>
              <a:latin typeface="Bahnschrift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97"/>
          <c:y val="0.27"/>
          <c:w val="0.8761"/>
          <c:h val="0.6448"/>
        </c:manualLayout>
      </c:layout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Compute Spend</c:v>
                </c:pt>
              </c:strCache>
            </c:strRef>
          </c:tx>
          <c:spPr>
            <a:solidFill>
              <a:srgbClr val="8E8E8E"/>
            </a:solidFill>
            <a:ln>
              <a:noFill/>
            </a:ln>
          </c:spPr>
          <c:dLbls>
            <c:dLbl>
              <c:idx val="0"/>
              <c:numFmt formatCode="&quot;$&quot;0.0&quot;B&quot;" sourceLinked="0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  <a:latin typeface="Bahnschrif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Bahnschrift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  <a:latin typeface="Bahnschrift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&quot;$&quot;#,##0&quot;B&quot;" sourceLinked="0"/>
            <c:txPr>
              <a:bodyPr wrap="none" anchor="ctr"/>
              <a:lstStyle/>
              <a:p>
                <a:pPr>
                  <a:defRPr sz="1300" b="1">
                    <a:solidFill>
                      <a:srgbClr val="FFFFFF"/>
                    </a:solidFill>
                    <a:latin typeface="Bahnschrif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Sheet1!$C$2:$C$7</c:f>
              <c:numCache>
                <c:formatCode>"$"#,##0"B"</c:formatCode>
                <c:ptCount val="6"/>
                <c:pt idx="0">
                  <c:v>6.9</c:v>
                </c:pt>
                <c:pt idx="1">
                  <c:v>47</c:v>
                </c:pt>
                <c:pt idx="2">
                  <c:v>142</c:v>
                </c:pt>
                <c:pt idx="3">
                  <c:v>236</c:v>
                </c:pt>
                <c:pt idx="4">
                  <c:v>299</c:v>
                </c:pt>
                <c:pt idx="5">
                  <c:v>351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noFill/>
            <a:ln w="31750">
              <a:solidFill>
                <a:srgbClr val="F2F2F2"/>
              </a:solidFill>
            </a:ln>
          </c:spPr>
          <c:dLbls>
            <c:dLbl>
              <c:idx val="0"/>
              <c:layout>
                <c:manualLayout>
                  <c:x val="0"/>
                  <c:y val="-0.0547"/>
                </c:manualLayout>
              </c:layout>
              <c:numFmt formatCode="&quot;$&quot;0.0&quot;B&quot;" sourceLinked="0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  <a:latin typeface="Bahnschrif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&quot;$&quot;#,##0&quot;B&quot;" sourceLinked="0"/>
            <c:txPr>
              <a:bodyPr wrap="none" anchor="ctr"/>
              <a:lstStyle/>
              <a:p>
                <a:pPr>
                  <a:defRPr sz="1300" b="1">
                    <a:solidFill>
                      <a:srgbClr val="F2F2F2"/>
                    </a:solidFill>
                    <a:latin typeface="Bahnschrif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Sheet1!$B$2:$B$7</c:f>
              <c:numCache>
                <c:formatCode>"$"#,##0"B"</c:formatCode>
                <c:ptCount val="6"/>
                <c:pt idx="0">
                  <c:v>4.5</c:v>
                </c:pt>
                <c:pt idx="1">
                  <c:v>66</c:v>
                </c:pt>
                <c:pt idx="2">
                  <c:v>201</c:v>
                </c:pt>
                <c:pt idx="3">
                  <c:v>335</c:v>
                </c:pt>
                <c:pt idx="4">
                  <c:v>467</c:v>
                </c:pt>
                <c:pt idx="5">
                  <c:v>608</c:v>
                </c:pt>
              </c:numCache>
            </c:numRef>
          </c:val>
        </c:ser>
        <c:gapWidth val="30"/>
        <c:overlap val="10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title>
          <c:tx>
            <c:strRef>
              <c:f>Sheet1!$G$4</c:f>
              <c:strCache>
                <c:ptCount val="1"/>
                <c:pt idx="0">
                  <c:v>2025–2030 CUMULATIVE</c:v>
                </c:pt>
              </c:strCache>
            </c:strRef>
          </c:tx>
          <c:layout>
            <c:manualLayout>
              <c:xMode val="edge"/>
              <c:yMode val="edge"/>
              <c:x val="0.4142"/>
              <c:y val="0.0212"/>
            </c:manualLayout>
          </c:layout>
          <c:overlay val="1"/>
          <c:spPr>
            <a:noFill/>
            <a:ln>
              <a:noFill/>
            </a:ln>
          </c:spPr>
          <c:txPr>
            <a:bodyPr rot="0" vert="horz" wrap="none"/>
            <a:lstStyle/>
            <a:p>
              <a:pPr>
                <a:defRPr sz="800" b="1">
                  <a:solidFill>
                    <a:srgbClr val="B4B4B4"/>
                  </a:solidFill>
                  <a:latin typeface="Bahnschrift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ln w="15875">
            <a:solidFill>
              <a:srgbClr val="C8C8C8"/>
            </a:solidFill>
          </a:ln>
        </c:spPr>
        <c:txPr>
          <a:bodyPr/>
          <a:lstStyle/>
          <a:p>
            <a:pPr>
              <a:defRPr sz="1200" b="1">
                <a:solidFill>
                  <a:srgbClr val="FFFFFF"/>
                </a:solidFill>
                <a:latin typeface="Bahnschrift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700.0"/>
          <c:min val="0.0"/>
        </c:scaling>
        <c:delete val="0"/>
        <c:axPos val="l"/>
        <c:title>
          <c:tx>
            <c:strRef>
              <c:f>Sheet1!$G$3</c:f>
              <c:strCache>
                <c:ptCount val="1"/>
                <c:pt idx="0">
                  <c:v>$1,082B</c:v>
                </c:pt>
              </c:strCache>
            </c:strRef>
          </c:tx>
          <c:layout>
            <c:manualLayout>
              <c:xMode val="edge"/>
              <c:yMode val="edge"/>
              <c:x val="0.4224"/>
              <c:y val="0.1163"/>
            </c:manualLayout>
          </c:layout>
          <c:overlay val="1"/>
          <c:spPr>
            <a:noFill/>
            <a:ln>
              <a:noFill/>
            </a:ln>
          </c:spPr>
          <c:txPr>
            <a:bodyPr rot="0" vert="horz" wrap="none"/>
            <a:lstStyle/>
            <a:p>
              <a:pPr>
                <a:defRPr sz="1300" b="1">
                  <a:solidFill>
                    <a:srgbClr val="FFFFFF"/>
                  </a:solidFill>
                  <a:latin typeface="Bahnschrift"/>
                </a:defRPr>
              </a:pPr>
              <a:endParaRPr lang="en-US"/>
            </a:p>
          </c:txPr>
        </c:title>
        <c:numFmt formatCode="&quot;$&quot;#,##0&quot;B&quot;" sourceLinked="0"/>
        <c:majorTickMark val="none"/>
        <c:minorTickMark val="none"/>
        <c:tickLblPos val="nextTo"/>
        <c:spPr>
          <a:ln w="12700">
            <a:solidFill>
              <a:srgbClr val="C8C8C8"/>
            </a:solidFill>
          </a:ln>
        </c:spPr>
        <c:txPr>
          <a:bodyPr/>
          <a:lstStyle/>
          <a:p>
            <a:pPr>
              <a:defRPr sz="1000" b="1">
                <a:solidFill>
                  <a:srgbClr val="FFFFFF"/>
                </a:solidFill>
                <a:latin typeface="Bahnschrift"/>
              </a:defRPr>
            </a:pPr>
          </a:p>
        </c:txPr>
        <c:crossAx val="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B4B4B4"/>
          </a:solidFill>
          <a:latin typeface="Bahnschrif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strRef>
          <c:f>Sheet1!$D$2</c:f>
          <c:strCache>
            <c:ptCount val="1"/>
            <c:pt idx="0">
              <c:v>$112B</c:v>
            </c:pt>
          </c:strCache>
        </c:strRef>
      </c:tx>
      <c:layout>
        <c:manualLayout>
          <c:xMode val="edge"/>
          <c:yMode val="edge"/>
          <c:x val="0.6979"/>
          <c:y val="0.0824"/>
        </c:manualLayout>
      </c:layout>
      <c:overlay val="1"/>
      <c:spPr>
        <a:noFill/>
        <a:ln>
          <a:noFill/>
        </a:ln>
      </c:spPr>
      <c:txPr>
        <a:bodyPr rot="0" vert="horz" wrap="none"/>
        <a:lstStyle/>
        <a:p>
          <a:pPr>
            <a:defRPr sz="1300" b="1">
              <a:solidFill>
                <a:srgbClr val="FFFFFF"/>
              </a:solidFill>
              <a:latin typeface="Bahnschrift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97"/>
          <c:y val="0.7693"/>
          <c:w val="0.8761"/>
          <c:h val="0.1797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Free Cash Flow</c:v>
                </c:pt>
              </c:strCache>
            </c:strRef>
          </c:tx>
          <c:spPr>
            <a:solidFill>
              <a:srgbClr val="F2F2F2"/>
            </a:solidFill>
            <a:ln>
              <a:noFill/>
            </a:ln>
          </c:spPr>
          <c:invertIfNegative val="0"/>
          <c:dLbls>
            <c:dLbl>
              <c:idx val="0"/>
              <c:numFmt formatCode="&quot;$&quot;0.0&quot;B&quot;;-&quot;$&quot;0.0&quot;B&quot;" sourceLinked="0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  <a:latin typeface="Bahnschrif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&quot;$&quot;#,##0&quot;B&quot;;-&quot;$&quot;#,##0&quot;B&quot;" sourceLinked="0"/>
            <c:txPr>
              <a:bodyPr wrap="none" anchor="ctr"/>
              <a:lstStyle/>
              <a:p>
                <a:pPr>
                  <a:defRPr sz="1300" b="1">
                    <a:solidFill>
                      <a:srgbClr val="F2F2F2"/>
                    </a:solidFill>
                    <a:latin typeface="Bahnschrif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Sheet1!$B$2:$B$7</c:f>
              <c:numCache>
                <c:formatCode>"$"#,##0"B"</c:formatCode>
                <c:ptCount val="6"/>
                <c:pt idx="0">
                  <c:v>-5.4</c:v>
                </c:pt>
                <c:pt idx="1">
                  <c:v>-18</c:v>
                </c:pt>
                <c:pt idx="2">
                  <c:v>-21</c:v>
                </c:pt>
                <c:pt idx="3">
                  <c:v>-8</c:v>
                </c:pt>
                <c:pt idx="4">
                  <c:v>50</c:v>
                </c:pt>
                <c:pt idx="5">
                  <c:v>114</c:v>
                </c:pt>
              </c:numCache>
            </c:numRef>
          </c:val>
        </c:ser>
        <c:gapWidth val="3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ln w="15875">
            <a:solidFill>
              <a:srgbClr val="C8C8C8"/>
            </a:solidFill>
          </a:ln>
        </c:sp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175.0"/>
          <c:min val="-100.0"/>
        </c:scaling>
        <c:delete val="0"/>
        <c:axPos val="l"/>
        <c:numFmt formatCode="&quot;$&quot;#,##0&quot;B&quot;;;&quot;$&quot;0&quot;B&quot;" sourceLinked="0"/>
        <c:majorTickMark val="none"/>
        <c:minorTickMark val="none"/>
        <c:tickLblPos val="nextTo"/>
        <c:spPr>
          <a:ln w="12700">
            <a:solidFill>
              <a:srgbClr val="C8C8C8"/>
            </a:solidFill>
          </a:ln>
        </c:spPr>
        <c:txPr>
          <a:bodyPr/>
          <a:lstStyle/>
          <a:p>
            <a:pPr>
              <a:defRPr sz="1000" b="1">
                <a:solidFill>
                  <a:srgbClr val="FFFFFF"/>
                </a:solidFill>
                <a:latin typeface="Bahnschrift"/>
              </a:defRPr>
            </a:pPr>
          </a:p>
        </c:txPr>
        <c:crossAx val="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B4B4B4"/>
          </a:solidFill>
          <a:latin typeface="Bahnschrif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strRef>
          <c:f>Sheet1!$G$2</c:f>
          <c:strCache>
            <c:ptCount val="1"/>
            <c:pt idx="0">
              <c:v>$1,444B</c:v>
            </c:pt>
          </c:strCache>
        </c:strRef>
      </c:tx>
      <c:layout>
        <c:manualLayout>
          <c:xMode val="edge"/>
          <c:yMode val="edge"/>
          <c:x val="0.1469"/>
          <c:y val="0.1163"/>
        </c:manualLayout>
      </c:layout>
      <c:overlay val="1"/>
      <c:spPr>
        <a:noFill/>
        <a:ln>
          <a:noFill/>
        </a:ln>
      </c:spPr>
      <c:txPr>
        <a:bodyPr rot="0" vert="horz" wrap="none"/>
        <a:lstStyle/>
        <a:p>
          <a:pPr>
            <a:defRPr sz="1300" b="1">
              <a:solidFill>
                <a:srgbClr val="FFFFFF"/>
              </a:solidFill>
              <a:latin typeface="Bahnschrift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97"/>
          <c:y val="0.27"/>
          <c:w val="0.8761"/>
          <c:h val="0.6448"/>
        </c:manualLayout>
      </c:layout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Compute Spend</c:v>
                </c:pt>
              </c:strCache>
            </c:strRef>
          </c:tx>
          <c:spPr>
            <a:solidFill>
              <a:srgbClr val="8E8E8E"/>
            </a:solidFill>
            <a:ln>
              <a:noFill/>
            </a:ln>
          </c:spPr>
          <c:dLbls>
            <c:dLbl>
              <c:idx val="0"/>
              <c:numFmt formatCode="&quot;$&quot;0.0&quot;B&quot;" sourceLinked="0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  <a:latin typeface="Bahnschrif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Bahnschrift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&quot;$&quot;#,##0&quot;B&quot;" sourceLinked="0"/>
            <c:txPr>
              <a:bodyPr wrap="none" anchor="ctr"/>
              <a:lstStyle/>
              <a:p>
                <a:pPr>
                  <a:defRPr sz="1300" b="1">
                    <a:solidFill>
                      <a:srgbClr val="FFFFFF"/>
                    </a:solidFill>
                    <a:latin typeface="Bahnschrif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Sheet1!$C$2:$C$7</c:f>
              <c:numCache>
                <c:formatCode>"$"#,##0"B"</c:formatCode>
                <c:ptCount val="6"/>
                <c:pt idx="0">
                  <c:v>16.6</c:v>
                </c:pt>
                <c:pt idx="1">
                  <c:v>17</c:v>
                </c:pt>
                <c:pt idx="2">
                  <c:v>54</c:v>
                </c:pt>
                <c:pt idx="3">
                  <c:v>129</c:v>
                </c:pt>
                <c:pt idx="4">
                  <c:v>216</c:v>
                </c:pt>
                <c:pt idx="5">
                  <c:v>284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noFill/>
            <a:ln w="31750">
              <a:solidFill>
                <a:srgbClr val="F2F2F2"/>
              </a:solidFill>
            </a:ln>
          </c:spPr>
          <c:dLbls>
            <c:dLbl>
              <c:idx val="0"/>
              <c:layout>
                <c:manualLayout>
                  <c:x val="0"/>
                  <c:y val="-0.0560"/>
                </c:manualLayout>
              </c:layout>
              <c:numFmt formatCode="&quot;$&quot;0.0&quot;B&quot;" sourceLinked="0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  <a:latin typeface="Bahnschrif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&quot;$&quot;#,##0&quot;B&quot;" sourceLinked="0"/>
            <c:txPr>
              <a:bodyPr wrap="none" anchor="ctr"/>
              <a:lstStyle/>
              <a:p>
                <a:pPr>
                  <a:defRPr sz="1300" b="1">
                    <a:solidFill>
                      <a:srgbClr val="F2F2F2"/>
                    </a:solidFill>
                    <a:latin typeface="Bahnschrif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Sheet1!$B$2:$B$7</c:f>
              <c:numCache>
                <c:formatCode>"$"#,##0"B"</c:formatCode>
                <c:ptCount val="6"/>
                <c:pt idx="0">
                  <c:v>12.8</c:v>
                </c:pt>
                <c:pt idx="1">
                  <c:v>47</c:v>
                </c:pt>
                <c:pt idx="2">
                  <c:v>151</c:v>
                </c:pt>
                <c:pt idx="3">
                  <c:v>267</c:v>
                </c:pt>
                <c:pt idx="4">
                  <c:v>413</c:v>
                </c:pt>
                <c:pt idx="5">
                  <c:v>553</c:v>
                </c:pt>
              </c:numCache>
            </c:numRef>
          </c:val>
        </c:ser>
        <c:gapWidth val="30"/>
        <c:overlap val="10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title>
          <c:tx>
            <c:strRef>
              <c:f>Sheet1!$G$4</c:f>
              <c:strCache>
                <c:ptCount val="1"/>
                <c:pt idx="0">
                  <c:v>2025–2030 CUMULATIVE</c:v>
                </c:pt>
              </c:strCache>
            </c:strRef>
          </c:tx>
          <c:layout>
            <c:manualLayout>
              <c:xMode val="edge"/>
              <c:yMode val="edge"/>
              <c:x val="0.4142"/>
              <c:y val="0.0212"/>
            </c:manualLayout>
          </c:layout>
          <c:overlay val="1"/>
          <c:spPr>
            <a:noFill/>
            <a:ln>
              <a:noFill/>
            </a:ln>
          </c:spPr>
          <c:txPr>
            <a:bodyPr rot="0" vert="horz" wrap="none"/>
            <a:lstStyle/>
            <a:p>
              <a:pPr>
                <a:defRPr sz="800" b="1">
                  <a:solidFill>
                    <a:srgbClr val="B4B4B4"/>
                  </a:solidFill>
                  <a:latin typeface="Bahnschrift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ln w="15875">
            <a:solidFill>
              <a:srgbClr val="C8C8C8"/>
            </a:solidFill>
          </a:ln>
        </c:spPr>
        <c:txPr>
          <a:bodyPr/>
          <a:lstStyle/>
          <a:p>
            <a:pPr>
              <a:defRPr sz="1200" b="1">
                <a:solidFill>
                  <a:srgbClr val="FFFFFF"/>
                </a:solidFill>
                <a:latin typeface="Bahnschrift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700.0"/>
          <c:min val="0.0"/>
        </c:scaling>
        <c:delete val="0"/>
        <c:axPos val="l"/>
        <c:title>
          <c:tx>
            <c:strRef>
              <c:f>Sheet1!$G$3</c:f>
              <c:strCache>
                <c:ptCount val="1"/>
                <c:pt idx="0">
                  <c:v>$717B</c:v>
                </c:pt>
              </c:strCache>
            </c:strRef>
          </c:tx>
          <c:layout>
            <c:manualLayout>
              <c:xMode val="edge"/>
              <c:yMode val="edge"/>
              <c:x val="0.4224"/>
              <c:y val="0.1163"/>
            </c:manualLayout>
          </c:layout>
          <c:overlay val="1"/>
          <c:spPr>
            <a:noFill/>
            <a:ln>
              <a:noFill/>
            </a:ln>
          </c:spPr>
          <c:txPr>
            <a:bodyPr rot="0" vert="horz" wrap="none"/>
            <a:lstStyle/>
            <a:p>
              <a:pPr>
                <a:defRPr sz="1300" b="1">
                  <a:solidFill>
                    <a:srgbClr val="FFFFFF"/>
                  </a:solidFill>
                  <a:latin typeface="Bahnschrift"/>
                </a:defRPr>
              </a:pPr>
              <a:endParaRPr lang="en-US"/>
            </a:p>
          </c:txPr>
        </c:title>
        <c:numFmt formatCode="&quot;$&quot;#,##0&quot;B&quot;" sourceLinked="0"/>
        <c:majorTickMark val="none"/>
        <c:minorTickMark val="none"/>
        <c:tickLblPos val="nextTo"/>
        <c:spPr>
          <a:ln w="12700">
            <a:solidFill>
              <a:srgbClr val="C8C8C8"/>
            </a:solidFill>
          </a:ln>
        </c:spPr>
        <c:txPr>
          <a:bodyPr/>
          <a:lstStyle/>
          <a:p>
            <a:pPr>
              <a:defRPr sz="1000" b="1">
                <a:solidFill>
                  <a:srgbClr val="FFFFFF"/>
                </a:solidFill>
                <a:latin typeface="Bahnschrift"/>
              </a:defRPr>
            </a:pPr>
          </a:p>
        </c:txPr>
        <c:crossAx val="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B4B4B4"/>
          </a:solidFill>
          <a:latin typeface="Bahnschrif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UPDATE THE NUMBERS: each company has two charts. Right-click the upper chart &gt; Edit Data for Revenue and Compute Spend; right-click the FCF bars &gt; Edit Data for Free Cash Flow. Change the blue cells and close the sheet. Bars, value labels, year labels and the summary-card totals all update. Check by hand afterwards: (1) the slide title's 'twice' claim, (2) the subtitle years, (3) the two small 2026 compute labels if those values change a lot. Axis limits are fixed so both rows share one scale: revenue must stay under $700B and FCF between -$100B and +$175B.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56032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Bahnschrift"/>
              </a:rPr>
              <a:t>Anthropic converts twice OpenAI's share of revenue into FCF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786384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B4B4B4"/>
                </a:solidFill>
                <a:latin typeface="Bahnschrift"/>
              </a:rPr>
              <a:t>Revenue, compute spend and free cash flow, 2025–2030 (USD B). FCF is drawn on the same scale as revenue.</a:t>
            </a:r>
          </a:p>
        </p:txBody>
      </p:sp>
      <p:grpSp>
        <p:nvGrpSpPr>
          <p:cNvPr id="4" name="Anthropic Summary Card (numbers come from the chart data)"/>
          <p:cNvGrpSpPr/>
          <p:nvPr/>
        </p:nvGrpSpPr>
        <p:grpSpPr>
          <a:xfrm>
            <a:off x="1920240" y="1243584"/>
            <a:ext cx="4526280" cy="676656"/>
            <a:chOff x="1920240" y="1243584"/>
            <a:chExt cx="4526280" cy="676656"/>
          </a:xfrm>
        </p:grpSpPr>
        <p:sp>
          <p:nvSpPr>
            <p:cNvPr id="5" name="Rounded Rectangle 4"/>
            <p:cNvSpPr/>
            <p:nvPr/>
          </p:nvSpPr>
          <p:spPr>
            <a:xfrm>
              <a:off x="1920240" y="1243584"/>
              <a:ext cx="4526280" cy="676656"/>
            </a:xfrm>
            <a:prstGeom prst="roundRect">
              <a:avLst>
                <a:gd name="adj" fmla="val 14000"/>
              </a:avLst>
            </a:prstGeom>
            <a:solidFill>
              <a:srgbClr val="2C2C2C"/>
            </a:solidFill>
            <a:ln w="22225">
              <a:solidFill>
                <a:srgbClr val="F08A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066544" y="1335024"/>
              <a:ext cx="128016" cy="128016"/>
            </a:xfrm>
            <a:prstGeom prst="ellipse">
              <a:avLst/>
            </a:prstGeom>
            <a:solidFill>
              <a:srgbClr val="F08A2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67712" y="1280160"/>
              <a:ext cx="219456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500" b="1" i="0">
                  <a:solidFill>
                    <a:srgbClr val="F08A2A"/>
                  </a:solidFill>
                  <a:latin typeface="Bahnschrift"/>
                </a:rPr>
                <a:t>Anthropic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048256" y="1545336"/>
              <a:ext cx="4270248" cy="0"/>
            </a:xfrm>
            <a:prstGeom prst="line">
              <a:avLst/>
            </a:prstGeom>
            <a:ln w="12700">
              <a:solidFill>
                <a:srgbClr val="F08A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2157984" y="1581912"/>
              <a:ext cx="1005840" cy="12801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750" b="1" i="0">
                  <a:solidFill>
                    <a:srgbClr val="B4B4B4"/>
                  </a:solidFill>
                  <a:latin typeface="Bahnschrift"/>
                </a:rPr>
                <a:t>REVENUE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81400" y="1581912"/>
              <a:ext cx="1005840" cy="12801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750" b="1" i="0">
                  <a:solidFill>
                    <a:srgbClr val="B4B4B4"/>
                  </a:solidFill>
                  <a:latin typeface="Bahnschrift"/>
                </a:rPr>
                <a:t>COMPUTE SPEND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3471672" y="1600200"/>
              <a:ext cx="0" cy="265176"/>
            </a:xfrm>
            <a:prstGeom prst="line">
              <a:avLst/>
            </a:prstGeom>
            <a:ln w="12700">
              <a:solidFill>
                <a:srgbClr val="F08A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004816" y="1581912"/>
              <a:ext cx="1005840" cy="12801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750" b="1" i="0">
                  <a:solidFill>
                    <a:srgbClr val="B4B4B4"/>
                  </a:solidFill>
                  <a:latin typeface="Bahnschrift"/>
                </a:rPr>
                <a:t>FCF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4895088" y="1600200"/>
              <a:ext cx="0" cy="265176"/>
            </a:xfrm>
            <a:prstGeom prst="line">
              <a:avLst/>
            </a:prstGeom>
            <a:ln w="12700">
              <a:solidFill>
                <a:srgbClr val="F08A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4" name="Anthropic FCF Chart"/>
          <p:cNvGraphicFramePr>
            <a:graphicFrameLocks noGrp="1"/>
          </p:cNvGraphicFramePr>
          <p:nvPr/>
        </p:nvGraphicFramePr>
        <p:xfrm>
          <a:off x="1353312" y="1243584"/>
          <a:ext cx="5166360" cy="51572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5" name="Anthropic Revenue and Compute Chart"/>
          <p:cNvGraphicFramePr>
            <a:graphicFrameLocks noGrp="1"/>
          </p:cNvGraphicFramePr>
          <p:nvPr/>
        </p:nvGraphicFramePr>
        <p:xfrm>
          <a:off x="1353312" y="1243584"/>
          <a:ext cx="516636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pSp>
        <p:nvGrpSpPr>
          <p:cNvPr id="16" name="OpenAI Summary Card (numbers come from the chart data)"/>
          <p:cNvGrpSpPr/>
          <p:nvPr/>
        </p:nvGrpSpPr>
        <p:grpSpPr>
          <a:xfrm>
            <a:off x="7269480" y="1243584"/>
            <a:ext cx="4526280" cy="676656"/>
            <a:chOff x="7269480" y="1243584"/>
            <a:chExt cx="4526280" cy="676656"/>
          </a:xfrm>
        </p:grpSpPr>
        <p:sp>
          <p:nvSpPr>
            <p:cNvPr id="17" name="Rounded Rectangle 16"/>
            <p:cNvSpPr/>
            <p:nvPr/>
          </p:nvSpPr>
          <p:spPr>
            <a:xfrm>
              <a:off x="7269480" y="1243584"/>
              <a:ext cx="4526280" cy="676656"/>
            </a:xfrm>
            <a:prstGeom prst="roundRect">
              <a:avLst>
                <a:gd name="adj" fmla="val 14000"/>
              </a:avLst>
            </a:prstGeom>
            <a:solidFill>
              <a:srgbClr val="2C2C2C"/>
            </a:solidFill>
            <a:ln w="22225">
              <a:solidFill>
                <a:srgbClr val="16A08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7415783" y="1335024"/>
              <a:ext cx="128016" cy="128016"/>
            </a:xfrm>
            <a:prstGeom prst="ellipse">
              <a:avLst/>
            </a:prstGeom>
            <a:solidFill>
              <a:srgbClr val="16A08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616952" y="1280160"/>
              <a:ext cx="219456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500" b="1" i="0">
                  <a:solidFill>
                    <a:srgbClr val="16A082"/>
                  </a:solidFill>
                  <a:latin typeface="Bahnschrift"/>
                </a:rPr>
                <a:t>OpenAI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7397496" y="1545336"/>
              <a:ext cx="4270248" cy="0"/>
            </a:xfrm>
            <a:prstGeom prst="line">
              <a:avLst/>
            </a:prstGeom>
            <a:ln w="12700">
              <a:solidFill>
                <a:srgbClr val="16A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7507223" y="1581912"/>
              <a:ext cx="1005840" cy="12801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750" b="1" i="0">
                  <a:solidFill>
                    <a:srgbClr val="B4B4B4"/>
                  </a:solidFill>
                  <a:latin typeface="Bahnschrift"/>
                </a:rPr>
                <a:t>REVENUE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930640" y="1581912"/>
              <a:ext cx="1005840" cy="12801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750" b="1" i="0">
                  <a:solidFill>
                    <a:srgbClr val="B4B4B4"/>
                  </a:solidFill>
                  <a:latin typeface="Bahnschrift"/>
                </a:rPr>
                <a:t>COMPUTE SPEND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8820912" y="1600200"/>
              <a:ext cx="0" cy="265176"/>
            </a:xfrm>
            <a:prstGeom prst="line">
              <a:avLst/>
            </a:prstGeom>
            <a:ln w="12700">
              <a:solidFill>
                <a:srgbClr val="16A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10354056" y="1581912"/>
              <a:ext cx="1005840" cy="12801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750" b="1" i="0">
                  <a:solidFill>
                    <a:srgbClr val="B4B4B4"/>
                  </a:solidFill>
                  <a:latin typeface="Bahnschrift"/>
                </a:rPr>
                <a:t>FCF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10244328" y="1600200"/>
              <a:ext cx="0" cy="265176"/>
            </a:xfrm>
            <a:prstGeom prst="line">
              <a:avLst/>
            </a:prstGeom>
            <a:ln w="12700">
              <a:solidFill>
                <a:srgbClr val="16A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OpenAI FCF Chart"/>
          <p:cNvGraphicFramePr>
            <a:graphicFrameLocks noGrp="1"/>
          </p:cNvGraphicFramePr>
          <p:nvPr/>
        </p:nvGraphicFramePr>
        <p:xfrm>
          <a:off x="6702552" y="1243584"/>
          <a:ext cx="5166360" cy="51572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7" name="OpenAI Revenue and Compute Chart"/>
          <p:cNvGraphicFramePr>
            <a:graphicFrameLocks noGrp="1"/>
          </p:cNvGraphicFramePr>
          <p:nvPr/>
        </p:nvGraphicFramePr>
        <p:xfrm>
          <a:off x="6702552" y="1243584"/>
          <a:ext cx="5166360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pSp>
        <p:nvGrpSpPr>
          <p:cNvPr id="28" name="Row Header"/>
          <p:cNvGrpSpPr/>
          <p:nvPr/>
        </p:nvGrpSpPr>
        <p:grpSpPr>
          <a:xfrm>
            <a:off x="274320" y="2907426"/>
            <a:ext cx="1078992" cy="1024128"/>
            <a:chOff x="274320" y="2907426"/>
            <a:chExt cx="1078992" cy="1024128"/>
          </a:xfrm>
        </p:grpSpPr>
        <p:sp>
          <p:nvSpPr>
            <p:cNvPr id="29" name="Rectangle 28"/>
            <p:cNvSpPr/>
            <p:nvPr/>
          </p:nvSpPr>
          <p:spPr>
            <a:xfrm>
              <a:off x="274320" y="2944002"/>
              <a:ext cx="182880" cy="182880"/>
            </a:xfrm>
            <a:prstGeom prst="rect">
              <a:avLst/>
            </a:prstGeom>
            <a:noFill/>
            <a:ln w="22225">
              <a:solidFill>
                <a:srgbClr val="F2F2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30352" y="2907426"/>
              <a:ext cx="822960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FFFFFF"/>
                  </a:solidFill>
                  <a:latin typeface="Bahnschrift"/>
                </a:rPr>
                <a:t>REVENUE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74320" y="3510930"/>
              <a:ext cx="182880" cy="182880"/>
            </a:xfrm>
            <a:prstGeom prst="rect">
              <a:avLst/>
            </a:prstGeom>
            <a:solidFill>
              <a:srgbClr val="8E8E8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30352" y="3474354"/>
              <a:ext cx="822960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FFFFFF"/>
                  </a:solidFill>
                  <a:latin typeface="Bahnschrift"/>
                </a:rPr>
                <a:t>COMPUTE</a:t>
              </a:r>
              <a:br/>
              <a:r>
                <a:rPr sz="1100" b="1">
                  <a:solidFill>
                    <a:srgbClr val="FFFFFF"/>
                  </a:solidFill>
                  <a:latin typeface="Bahnschrift"/>
                </a:rPr>
                <a:t>SPEND</a:t>
              </a:r>
            </a:p>
          </p:txBody>
        </p:sp>
      </p:grpSp>
      <p:grpSp>
        <p:nvGrpSpPr>
          <p:cNvPr id="33" name="Row Header"/>
          <p:cNvGrpSpPr/>
          <p:nvPr/>
        </p:nvGrpSpPr>
        <p:grpSpPr>
          <a:xfrm>
            <a:off x="274320" y="5400051"/>
            <a:ext cx="1078992" cy="457200"/>
            <a:chOff x="274320" y="5400051"/>
            <a:chExt cx="1078992" cy="457200"/>
          </a:xfrm>
        </p:grpSpPr>
        <p:sp>
          <p:nvSpPr>
            <p:cNvPr id="34" name="Rectangle 33"/>
            <p:cNvSpPr/>
            <p:nvPr/>
          </p:nvSpPr>
          <p:spPr>
            <a:xfrm>
              <a:off x="274320" y="5436627"/>
              <a:ext cx="182880" cy="1828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30352" y="5400051"/>
              <a:ext cx="822960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FFFFFF"/>
                  </a:solidFill>
                  <a:latin typeface="Bahnschrift"/>
                </a:rPr>
                <a:t>FREE</a:t>
              </a:r>
              <a:br/>
              <a:r>
                <a:rPr sz="1100" b="1">
                  <a:solidFill>
                    <a:srgbClr val="FFFFFF"/>
                  </a:solidFill>
                  <a:latin typeface="Bahnschrift"/>
                </a:rPr>
                <a:t>CASH</a:t>
              </a:r>
              <a:br/>
              <a:r>
                <a:rPr sz="1100" b="1">
                  <a:solidFill>
                    <a:srgbClr val="FFFFFF"/>
                  </a:solidFill>
                  <a:latin typeface="Bahnschrift"/>
                </a:rPr>
                <a:t>FLOW</a:t>
              </a:r>
            </a:p>
          </p:txBody>
        </p:sp>
      </p:grpSp>
      <p:sp>
        <p:nvSpPr>
          <p:cNvPr id="36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B4B4B4"/>
                </a:solidFill>
                <a:latin typeface="Bahnschrift"/>
              </a:rPr>
              <a:t>The gap between Compute Spend and Revenue is not FCF: it is other costs (Revenue − Compute − FCF).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hnschrif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hnschrif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hnschrif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hnschrif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